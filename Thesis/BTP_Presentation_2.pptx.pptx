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6858000" cy="9144000"/>
  <p:embeddedFontLst>
    <p:embeddedFont>
      <p:font typeface="Calibri (MS)" panose="020B0604020202020204" charset="0"/>
      <p:regular r:id="rId31"/>
    </p:embeddedFont>
    <p:embeddedFont>
      <p:font typeface="Calibri (MS) Bold" panose="020B0604020202020204" charset="0"/>
      <p:regular r:id="rId32"/>
    </p:embeddedFont>
    <p:embeddedFont>
      <p:font typeface="Calibri (MS) Italics" panose="020B0604020202020204" charset="0"/>
      <p:regular r:id="rId33"/>
    </p:embeddedFont>
    <p:embeddedFont>
      <p:font typeface="Cambria Bold" panose="02040803050406030204" pitchFamily="18" charset="0"/>
      <p:regular r:id="rId34"/>
      <p:bold r:id="rId35"/>
    </p:embeddedFont>
    <p:embeddedFont>
      <p:font typeface="Canva Sans" panose="020B0604020202020204" charset="0"/>
      <p:regular r:id="rId36"/>
    </p:embeddedFont>
    <p:embeddedFont>
      <p:font typeface="Inter Bold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1.jpe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41.jpe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47.jpe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760454" y="1343223"/>
            <a:ext cx="5499410" cy="6314679"/>
            <a:chOff x="0" y="0"/>
            <a:chExt cx="24384000" cy="279988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27998849"/>
            </a:xfrm>
            <a:custGeom>
              <a:avLst/>
              <a:gdLst/>
              <a:ahLst/>
              <a:cxnLst/>
              <a:rect l="l" t="t" r="r" b="b"/>
              <a:pathLst>
                <a:path w="24384000" h="27998849">
                  <a:moveTo>
                    <a:pt x="0" y="0"/>
                  </a:moveTo>
                  <a:lnTo>
                    <a:pt x="24384000" y="0"/>
                  </a:lnTo>
                  <a:lnTo>
                    <a:pt x="24384000" y="27998849"/>
                  </a:lnTo>
                  <a:lnTo>
                    <a:pt x="0" y="27998849"/>
                  </a:lnTo>
                  <a:close/>
                </a:path>
              </a:pathLst>
            </a:custGeom>
            <a:blipFill>
              <a:blip r:embed="rId2"/>
              <a:stretch>
                <a:fillRect l="-1312" r="-131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28700" y="1000125"/>
            <a:ext cx="9445526" cy="350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1A3A6B"/>
                </a:solidFill>
                <a:latin typeface="Inter Bold"/>
                <a:ea typeface="Inter Bold"/>
                <a:cs typeface="Inter Bold"/>
                <a:sym typeface="Inter Bold"/>
              </a:rPr>
              <a:t>Singularity Free Combined Vector Field based Path Following and Obstacle Avoidance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0067" y="8379777"/>
            <a:ext cx="3843187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1A3A6B"/>
                </a:solidFill>
                <a:latin typeface="Canva Sans"/>
                <a:ea typeface="Canva Sans"/>
                <a:cs typeface="Canva Sans"/>
                <a:sym typeface="Canva Sans"/>
              </a:rPr>
              <a:t>Presented By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0067" y="8969058"/>
            <a:ext cx="3843187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Dheeraj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53254" y="8969058"/>
            <a:ext cx="3843187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Sikha Hota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53254" y="8379777"/>
            <a:ext cx="3843187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1A3A6B"/>
                </a:solidFill>
                <a:latin typeface="Canva Sans"/>
                <a:ea typeface="Canva Sans"/>
                <a:cs typeface="Canva Sans"/>
                <a:sym typeface="Canva Sans"/>
              </a:rPr>
              <a:t>Supervisor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82400" y="8809000"/>
            <a:ext cx="6070910" cy="434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55"/>
              </a:lnSpc>
              <a:spcBef>
                <a:spcPct val="0"/>
              </a:spcBef>
            </a:pPr>
            <a:r>
              <a:rPr lang="en-US" sz="2874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BACHELOR  TERM PROJECT - 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UAV Kinematic Model &amp; Problem Setup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8180625"/>
            <a:ext cx="8229600" cy="1103789"/>
            <a:chOff x="0" y="0"/>
            <a:chExt cx="10972800" cy="14717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72800" cy="1471719"/>
            </a:xfrm>
            <a:custGeom>
              <a:avLst/>
              <a:gdLst/>
              <a:ahLst/>
              <a:cxnLst/>
              <a:rect l="l" t="t" r="r" b="b"/>
              <a:pathLst>
                <a:path w="10972800" h="1471719">
                  <a:moveTo>
                    <a:pt x="0" y="0"/>
                  </a:moveTo>
                  <a:lnTo>
                    <a:pt x="10972800" y="0"/>
                  </a:lnTo>
                  <a:lnTo>
                    <a:pt x="10972800" y="1471719"/>
                  </a:lnTo>
                  <a:lnTo>
                    <a:pt x="0" y="14717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55" b="-16539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0972800" cy="1519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03249" lvl="1" indent="-301625" algn="l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 = 0 ⟹ UAV on desired path</a:t>
              </a:r>
            </a:p>
            <a:p>
              <a:pPr marL="602932" lvl="1" indent="-301466" algn="l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robs  = 0 ⟹ collision with obstacle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9734319" y="2325580"/>
            <a:ext cx="7913601" cy="6406940"/>
          </a:xfrm>
          <a:custGeom>
            <a:avLst/>
            <a:gdLst/>
            <a:ahLst/>
            <a:cxnLst/>
            <a:rect l="l" t="t" r="r" b="b"/>
            <a:pathLst>
              <a:path w="7913601" h="6406940">
                <a:moveTo>
                  <a:pt x="0" y="0"/>
                </a:moveTo>
                <a:lnTo>
                  <a:pt x="7913601" y="0"/>
                </a:lnTo>
                <a:lnTo>
                  <a:pt x="7913601" y="6406940"/>
                </a:lnTo>
                <a:lnTo>
                  <a:pt x="0" y="6406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54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815225" y="6413211"/>
            <a:ext cx="8321040" cy="1142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 dirty="0">
                <a:solidFill>
                  <a:srgbClr val="1A3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Desired path:  </a:t>
            </a:r>
            <a:r>
              <a:rPr lang="en-US" sz="2499" dirty="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C₁ : f(x, y) = 0  (twice differentiable implicit curve)</a:t>
            </a:r>
          </a:p>
          <a:p>
            <a:pPr algn="l">
              <a:lnSpc>
                <a:spcPts val="2999"/>
              </a:lnSpc>
            </a:pPr>
            <a:r>
              <a:rPr lang="en-US" sz="2499" b="1" dirty="0">
                <a:solidFill>
                  <a:srgbClr val="1A3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Obstacle:  </a:t>
            </a:r>
            <a:r>
              <a:rPr lang="en-US" sz="2499" dirty="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C₂ : g(x, y) = 0  with safety margin δ</a:t>
            </a:r>
          </a:p>
          <a:p>
            <a:pPr algn="l">
              <a:lnSpc>
                <a:spcPts val="2999"/>
              </a:lnSpc>
            </a:pPr>
            <a:r>
              <a:rPr lang="en-US" sz="2499" b="1" dirty="0">
                <a:solidFill>
                  <a:srgbClr val="1A3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Pseudo-distances:  </a:t>
            </a:r>
            <a:r>
              <a:rPr lang="en-US" sz="2499" dirty="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r = f(x, y),  robs  = g(x, y)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2960" y="4485781"/>
            <a:ext cx="804672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with Ground Speed (Vg), given as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6899" y="1483064"/>
            <a:ext cx="7298842" cy="289672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170" y="4331970"/>
            <a:ext cx="9738360" cy="22219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UAV Kinematic Model &amp; Problem Setup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692194" y="4281052"/>
            <a:ext cx="10903621" cy="2565558"/>
          </a:xfrm>
          <a:custGeom>
            <a:avLst/>
            <a:gdLst/>
            <a:ahLst/>
            <a:cxnLst/>
            <a:rect l="l" t="t" r="r" b="b"/>
            <a:pathLst>
              <a:path w="10903621" h="2565558">
                <a:moveTo>
                  <a:pt x="0" y="0"/>
                </a:moveTo>
                <a:lnTo>
                  <a:pt x="10903621" y="0"/>
                </a:lnTo>
                <a:lnTo>
                  <a:pt x="10903621" y="2565558"/>
                </a:lnTo>
                <a:lnTo>
                  <a:pt x="0" y="2565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2400748"/>
            <a:ext cx="10454407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79"/>
              </a:lnSpc>
            </a:pPr>
            <a:r>
              <a:rPr lang="en-US" sz="2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Problem statement can then be summarized as, to design a controller u1 such that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Combined Vector Field (CVF) — Core Idea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554480"/>
            <a:ext cx="17007840" cy="640080"/>
            <a:chOff x="0" y="0"/>
            <a:chExt cx="22677120" cy="853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853440"/>
            </a:xfrm>
            <a:custGeom>
              <a:avLst/>
              <a:gdLst/>
              <a:ahLst/>
              <a:cxnLst/>
              <a:rect l="l" t="t" r="r" b="b"/>
              <a:pathLst>
                <a:path w="22677120" h="853440">
                  <a:moveTo>
                    <a:pt x="0" y="0"/>
                  </a:moveTo>
                  <a:lnTo>
                    <a:pt x="22677120" y="0"/>
                  </a:lnTo>
                  <a:lnTo>
                    <a:pt x="22677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7745" b="-46774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267712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Helmholtz Decomposition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2194560"/>
            <a:ext cx="17007840" cy="822960"/>
            <a:chOff x="0" y="0"/>
            <a:chExt cx="22677120" cy="10972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1097280"/>
            </a:xfrm>
            <a:custGeom>
              <a:avLst/>
              <a:gdLst/>
              <a:ahLst/>
              <a:cxnLst/>
              <a:rect l="l" t="t" r="r" b="b"/>
              <a:pathLst>
                <a:path w="22677120" h="1097280">
                  <a:moveTo>
                    <a:pt x="0" y="0"/>
                  </a:moveTo>
                  <a:lnTo>
                    <a:pt x="22677120" y="0"/>
                  </a:lnTo>
                  <a:lnTo>
                    <a:pt x="226771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2690" b="-35269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2267712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Any arbitrary vector field can be decomposed into a conservative (curl-free) part and a solenoidal (divergence-free) part.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" y="3480306"/>
            <a:ext cx="8163563" cy="720347"/>
            <a:chOff x="0" y="0"/>
            <a:chExt cx="10884751" cy="960463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0850881" cy="926592"/>
            </a:xfrm>
            <a:custGeom>
              <a:avLst/>
              <a:gdLst/>
              <a:ahLst/>
              <a:cxnLst/>
              <a:rect l="l" t="t" r="r" b="b"/>
              <a:pathLst>
                <a:path w="10850881" h="926592">
                  <a:moveTo>
                    <a:pt x="0" y="0"/>
                  </a:moveTo>
                  <a:lnTo>
                    <a:pt x="10850881" y="0"/>
                  </a:lnTo>
                  <a:lnTo>
                    <a:pt x="1085088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E3A8A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10884662" cy="960376"/>
            </a:xfrm>
            <a:custGeom>
              <a:avLst/>
              <a:gdLst/>
              <a:ahLst/>
              <a:cxnLst/>
              <a:rect l="l" t="t" r="r" b="b"/>
              <a:pathLst>
                <a:path w="10884662" h="960376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943483"/>
                  </a:lnTo>
                  <a:cubicBezTo>
                    <a:pt x="10884662" y="952881"/>
                    <a:pt x="10877042" y="960374"/>
                    <a:pt x="10867772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867772" y="926592"/>
                  </a:lnTo>
                  <a:lnTo>
                    <a:pt x="10867772" y="943483"/>
                  </a:lnTo>
                  <a:lnTo>
                    <a:pt x="10850880" y="943483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35657" y="3547867"/>
            <a:ext cx="7772400" cy="585216"/>
            <a:chOff x="0" y="0"/>
            <a:chExt cx="10363200" cy="7802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363200" cy="780288"/>
            </a:xfrm>
            <a:custGeom>
              <a:avLst/>
              <a:gdLst/>
              <a:ahLst/>
              <a:cxnLst/>
              <a:rect l="l" t="t" r="r" b="b"/>
              <a:pathLst>
                <a:path w="10363200" h="780288">
                  <a:moveTo>
                    <a:pt x="0" y="0"/>
                  </a:moveTo>
                  <a:lnTo>
                    <a:pt x="10363200" y="0"/>
                  </a:lnTo>
                  <a:lnTo>
                    <a:pt x="10363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785" b="-20878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363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Conservative Component  (vc)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27102" y="7247754"/>
            <a:ext cx="7876542" cy="1480735"/>
            <a:chOff x="0" y="0"/>
            <a:chExt cx="10502055" cy="197431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02055" cy="1974314"/>
            </a:xfrm>
            <a:custGeom>
              <a:avLst/>
              <a:gdLst/>
              <a:ahLst/>
              <a:cxnLst/>
              <a:rect l="l" t="t" r="r" b="b"/>
              <a:pathLst>
                <a:path w="10502055" h="1974314">
                  <a:moveTo>
                    <a:pt x="0" y="0"/>
                  </a:moveTo>
                  <a:lnTo>
                    <a:pt x="10502055" y="0"/>
                  </a:lnTo>
                  <a:lnTo>
                    <a:pt x="10502055" y="1974314"/>
                  </a:lnTo>
                  <a:lnTo>
                    <a:pt x="0" y="19743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359" r="-13715" b="-17171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0502055" cy="20219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dirty="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Gradient-based — pushes UAV toward or away from the curve</a:t>
              </a:r>
            </a:p>
            <a:p>
              <a:pPr algn="l">
                <a:lnSpc>
                  <a:spcPts val="2999"/>
                </a:lnSpc>
              </a:pPr>
              <a:r>
                <a:rPr lang="en-US" sz="2499" dirty="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Drives cross-track error to zero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326880" y="3480306"/>
            <a:ext cx="8163563" cy="720347"/>
            <a:chOff x="0" y="0"/>
            <a:chExt cx="10884751" cy="960463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10850881" cy="926592"/>
            </a:xfrm>
            <a:custGeom>
              <a:avLst/>
              <a:gdLst/>
              <a:ahLst/>
              <a:cxnLst/>
              <a:rect l="l" t="t" r="r" b="b"/>
              <a:pathLst>
                <a:path w="10850881" h="926592">
                  <a:moveTo>
                    <a:pt x="0" y="0"/>
                  </a:moveTo>
                  <a:lnTo>
                    <a:pt x="10850881" y="0"/>
                  </a:lnTo>
                  <a:lnTo>
                    <a:pt x="10850881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065F46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0884662" cy="960376"/>
            </a:xfrm>
            <a:custGeom>
              <a:avLst/>
              <a:gdLst/>
              <a:ahLst/>
              <a:cxnLst/>
              <a:rect l="l" t="t" r="r" b="b"/>
              <a:pathLst>
                <a:path w="10884662" h="960376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943483"/>
                  </a:lnTo>
                  <a:cubicBezTo>
                    <a:pt x="10884662" y="952881"/>
                    <a:pt x="10877042" y="960374"/>
                    <a:pt x="10867772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0867772" y="926592"/>
                  </a:lnTo>
                  <a:lnTo>
                    <a:pt x="10867772" y="943483"/>
                  </a:lnTo>
                  <a:lnTo>
                    <a:pt x="10850880" y="943483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522457" y="3547867"/>
            <a:ext cx="7772400" cy="585216"/>
            <a:chOff x="0" y="0"/>
            <a:chExt cx="10363200" cy="78028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363200" cy="780288"/>
            </a:xfrm>
            <a:custGeom>
              <a:avLst/>
              <a:gdLst/>
              <a:ahLst/>
              <a:cxnLst/>
              <a:rect l="l" t="t" r="r" b="b"/>
              <a:pathLst>
                <a:path w="10363200" h="780288">
                  <a:moveTo>
                    <a:pt x="0" y="0"/>
                  </a:moveTo>
                  <a:lnTo>
                    <a:pt x="10363200" y="0"/>
                  </a:lnTo>
                  <a:lnTo>
                    <a:pt x="10363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785" b="-20878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0363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Solenoidal Component  (vs)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613897" y="7247754"/>
            <a:ext cx="7589520" cy="1640929"/>
            <a:chOff x="0" y="0"/>
            <a:chExt cx="10119360" cy="218790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119360" cy="2187905"/>
            </a:xfrm>
            <a:custGeom>
              <a:avLst/>
              <a:gdLst/>
              <a:ahLst/>
              <a:cxnLst/>
              <a:rect l="l" t="t" r="r" b="b"/>
              <a:pathLst>
                <a:path w="10119360" h="2187905">
                  <a:moveTo>
                    <a:pt x="0" y="0"/>
                  </a:moveTo>
                  <a:lnTo>
                    <a:pt x="10119360" y="0"/>
                  </a:lnTo>
                  <a:lnTo>
                    <a:pt x="10119360" y="2187905"/>
                  </a:lnTo>
                  <a:lnTo>
                    <a:pt x="0" y="21879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016" r="-18016" b="-145187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0119360" cy="2235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Orthogonal to conservative field everywhere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Rotational — aligns UAV with curve direction</a:t>
              </a: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Ensures tangential circulation along C₁</a:t>
              </a:r>
            </a:p>
          </p:txBody>
        </p:sp>
      </p:grpSp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1959" y="4329576"/>
            <a:ext cx="5979797" cy="2717827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0046" y="4381218"/>
            <a:ext cx="6217230" cy="26859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Path-Following Combined Vector Field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554480"/>
            <a:ext cx="17007840" cy="731520"/>
            <a:chOff x="0" y="0"/>
            <a:chExt cx="22677120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975360"/>
            </a:xfrm>
            <a:custGeom>
              <a:avLst/>
              <a:gdLst/>
              <a:ahLst/>
              <a:cxnLst/>
              <a:rect l="l" t="t" r="r" b="b"/>
              <a:pathLst>
                <a:path w="22677120" h="975360">
                  <a:moveTo>
                    <a:pt x="0" y="0"/>
                  </a:moveTo>
                  <a:lnTo>
                    <a:pt x="22677120" y="0"/>
                  </a:lnTo>
                  <a:lnTo>
                    <a:pt x="22677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3027" b="-40302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267712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CVF blends conservative and solenoidal components with nonlinear state-dependent weights: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5577840"/>
            <a:ext cx="17007840" cy="548640"/>
            <a:chOff x="0" y="0"/>
            <a:chExt cx="2267712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6771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Parameters: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27383" y="6296663"/>
            <a:ext cx="2037083" cy="720347"/>
            <a:chOff x="0" y="0"/>
            <a:chExt cx="2716111" cy="960463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2716022" cy="960376"/>
            </a:xfrm>
            <a:custGeom>
              <a:avLst/>
              <a:gdLst/>
              <a:ahLst/>
              <a:cxnLst/>
              <a:rect l="l" t="t" r="r" b="b"/>
              <a:pathLst>
                <a:path w="2716022" h="960376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640080" y="6309360"/>
            <a:ext cx="2011680" cy="694944"/>
            <a:chOff x="0" y="0"/>
            <a:chExt cx="2682240" cy="9265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κ &gt; 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844165" y="6345936"/>
            <a:ext cx="14424660" cy="694944"/>
            <a:chOff x="0" y="0"/>
            <a:chExt cx="19232880" cy="9265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232879" cy="926592"/>
            </a:xfrm>
            <a:custGeom>
              <a:avLst/>
              <a:gdLst/>
              <a:ahLst/>
              <a:cxnLst/>
              <a:rect l="l" t="t" r="r" b="b"/>
              <a:pathLst>
                <a:path w="19232879" h="926592">
                  <a:moveTo>
                    <a:pt x="0" y="0"/>
                  </a:moveTo>
                  <a:lnTo>
                    <a:pt x="19232879" y="0"/>
                  </a:lnTo>
                  <a:lnTo>
                    <a:pt x="1923287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338" r="-2694" b="-36533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923288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Path-following design parameter. Larger κ ⟹ faster convergence (conservative part dominates far from path)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7383" y="7174487"/>
            <a:ext cx="2037083" cy="720347"/>
            <a:chOff x="0" y="0"/>
            <a:chExt cx="2716111" cy="960463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2716022" cy="960376"/>
            </a:xfrm>
            <a:custGeom>
              <a:avLst/>
              <a:gdLst/>
              <a:ahLst/>
              <a:cxnLst/>
              <a:rect l="l" t="t" r="r" b="b"/>
              <a:pathLst>
                <a:path w="2716022" h="960376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40080" y="7187184"/>
            <a:ext cx="2011680" cy="694944"/>
            <a:chOff x="0" y="0"/>
            <a:chExt cx="2682240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 = ±1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834640" y="7223760"/>
            <a:ext cx="14813280" cy="694944"/>
            <a:chOff x="0" y="0"/>
            <a:chExt cx="19751040" cy="92659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751039" cy="926592"/>
            </a:xfrm>
            <a:custGeom>
              <a:avLst/>
              <a:gdLst/>
              <a:ahLst/>
              <a:cxnLst/>
              <a:rect l="l" t="t" r="r" b="b"/>
              <a:pathLst>
                <a:path w="19751039" h="926592">
                  <a:moveTo>
                    <a:pt x="0" y="0"/>
                  </a:moveTo>
                  <a:lnTo>
                    <a:pt x="19751039" y="0"/>
                  </a:lnTo>
                  <a:lnTo>
                    <a:pt x="197510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338" b="-36533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975104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Selects clockwise or counterclockwise circulation along C₁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7383" y="8052311"/>
            <a:ext cx="2037083" cy="720347"/>
            <a:chOff x="0" y="0"/>
            <a:chExt cx="2716111" cy="960463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2716022" cy="960376"/>
            </a:xfrm>
            <a:custGeom>
              <a:avLst/>
              <a:gdLst/>
              <a:ahLst/>
              <a:cxnLst/>
              <a:rect l="l" t="t" r="r" b="b"/>
              <a:pathLst>
                <a:path w="2716022" h="960376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640080" y="8065008"/>
            <a:ext cx="2011680" cy="694944"/>
            <a:chOff x="0" y="0"/>
            <a:chExt cx="2682240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tanh(κr)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834640" y="8101584"/>
            <a:ext cx="14813280" cy="694944"/>
            <a:chOff x="0" y="0"/>
            <a:chExt cx="19751040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9751039" cy="926592"/>
            </a:xfrm>
            <a:custGeom>
              <a:avLst/>
              <a:gdLst/>
              <a:ahLst/>
              <a:cxnLst/>
              <a:rect l="l" t="t" r="r" b="b"/>
              <a:pathLst>
                <a:path w="19751039" h="926592">
                  <a:moveTo>
                    <a:pt x="0" y="0"/>
                  </a:moveTo>
                  <a:lnTo>
                    <a:pt x="19751039" y="0"/>
                  </a:lnTo>
                  <a:lnTo>
                    <a:pt x="197510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338" b="-365338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1975104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Near path (r≈0): weight → 0, solenoidal dominates (tangential motion)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27383" y="8930135"/>
            <a:ext cx="2037083" cy="720347"/>
            <a:chOff x="0" y="0"/>
            <a:chExt cx="2716111" cy="960463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2716022" cy="960376"/>
            </a:xfrm>
            <a:custGeom>
              <a:avLst/>
              <a:gdLst/>
              <a:ahLst/>
              <a:cxnLst/>
              <a:rect l="l" t="t" r="r" b="b"/>
              <a:pathLst>
                <a:path w="2716022" h="960376">
                  <a:moveTo>
                    <a:pt x="16891" y="0"/>
                  </a:moveTo>
                  <a:lnTo>
                    <a:pt x="2699131" y="0"/>
                  </a:lnTo>
                  <a:cubicBezTo>
                    <a:pt x="2708529" y="0"/>
                    <a:pt x="2716022" y="7620"/>
                    <a:pt x="2716022" y="16891"/>
                  </a:cubicBezTo>
                  <a:lnTo>
                    <a:pt x="2716022" y="943483"/>
                  </a:lnTo>
                  <a:cubicBezTo>
                    <a:pt x="2716022" y="952881"/>
                    <a:pt x="2708402" y="960374"/>
                    <a:pt x="26991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2699131" y="926592"/>
                  </a:lnTo>
                  <a:lnTo>
                    <a:pt x="2699131" y="943483"/>
                  </a:lnTo>
                  <a:lnTo>
                    <a:pt x="2682240" y="943483"/>
                  </a:lnTo>
                  <a:lnTo>
                    <a:pt x="2682240" y="16891"/>
                  </a:lnTo>
                  <a:lnTo>
                    <a:pt x="2699131" y="16891"/>
                  </a:lnTo>
                  <a:lnTo>
                    <a:pt x="2699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640080" y="8942832"/>
            <a:ext cx="2011680" cy="694944"/>
            <a:chOff x="0" y="0"/>
            <a:chExt cx="2682240" cy="9265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682240" cy="926592"/>
            </a:xfrm>
            <a:custGeom>
              <a:avLst/>
              <a:gdLst/>
              <a:ahLst/>
              <a:cxnLst/>
              <a:rect l="l" t="t" r="r" b="b"/>
              <a:pathLst>
                <a:path w="2682240" h="926592">
                  <a:moveTo>
                    <a:pt x="0" y="0"/>
                  </a:moveTo>
                  <a:lnTo>
                    <a:pt x="2682240" y="0"/>
                  </a:lnTo>
                  <a:lnTo>
                    <a:pt x="26822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04" b="-640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2682240" cy="936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sech(κr)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834640" y="8979408"/>
            <a:ext cx="14813280" cy="694944"/>
            <a:chOff x="0" y="0"/>
            <a:chExt cx="19751040" cy="92659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9751039" cy="926592"/>
            </a:xfrm>
            <a:custGeom>
              <a:avLst/>
              <a:gdLst/>
              <a:ahLst/>
              <a:cxnLst/>
              <a:rect l="l" t="t" r="r" b="b"/>
              <a:pathLst>
                <a:path w="19751039" h="926592">
                  <a:moveTo>
                    <a:pt x="0" y="0"/>
                  </a:moveTo>
                  <a:lnTo>
                    <a:pt x="19751039" y="0"/>
                  </a:lnTo>
                  <a:lnTo>
                    <a:pt x="197510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5338" b="-365338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1975104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 from path (|r|≫0): weight → 0, conservative dominates (pull toward path)</a:t>
              </a:r>
            </a:p>
          </p:txBody>
        </p:sp>
      </p:grpSp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1458" y="1777528"/>
            <a:ext cx="12085085" cy="43087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Obstacle-Avoidance Combined Vector Field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554480"/>
            <a:ext cx="17007840" cy="731520"/>
            <a:chOff x="0" y="0"/>
            <a:chExt cx="22677120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975360"/>
            </a:xfrm>
            <a:custGeom>
              <a:avLst/>
              <a:gdLst/>
              <a:ahLst/>
              <a:cxnLst/>
              <a:rect l="l" t="t" r="r" b="b"/>
              <a:pathLst>
                <a:path w="22677120" h="975360">
                  <a:moveTo>
                    <a:pt x="0" y="0"/>
                  </a:moveTo>
                  <a:lnTo>
                    <a:pt x="22677120" y="0"/>
                  </a:lnTo>
                  <a:lnTo>
                    <a:pt x="22677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3027" b="-40302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267712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symmetric CVF is constructed around the obstacle boundary C₂ : g(x,y) = 0, reversing the weighting logic: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5" y="6634950"/>
            <a:ext cx="17007840" cy="548640"/>
            <a:chOff x="0" y="0"/>
            <a:chExt cx="2267712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26771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Interpretation: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" y="7183590"/>
            <a:ext cx="17007840" cy="2520809"/>
            <a:chOff x="0" y="0"/>
            <a:chExt cx="22677120" cy="336107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677120" cy="3361079"/>
            </a:xfrm>
            <a:custGeom>
              <a:avLst/>
              <a:gdLst/>
              <a:ahLst/>
              <a:cxnLst/>
              <a:rect l="l" t="t" r="r" b="b"/>
              <a:pathLst>
                <a:path w="22677120" h="3361079">
                  <a:moveTo>
                    <a:pt x="0" y="0"/>
                  </a:moveTo>
                  <a:lnTo>
                    <a:pt x="22677120" y="0"/>
                  </a:lnTo>
                  <a:lnTo>
                    <a:pt x="22677120" y="3361079"/>
                  </a:lnTo>
                  <a:lnTo>
                    <a:pt x="0" y="33610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916" b="-10401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52400"/>
              <a:ext cx="22677120" cy="35134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03249" lvl="1" indent="-301625" algn="l">
                <a:lnSpc>
                  <a:spcPts val="4074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Near obstacle (robs ≈ 0): sech(κobs·robs) ≈ 1  ⟹  conservative term dominates  ⟹  strong repulsion</a:t>
              </a:r>
            </a:p>
            <a:p>
              <a:pPr marL="603249" lvl="1" indent="-301625" algn="l">
                <a:lnSpc>
                  <a:spcPts val="4074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 from obstacle (robs  ≫ 0): sech → 0, tanh → 1  ⟹  solenoidal term dominates  ⟹  circulation</a:t>
              </a:r>
            </a:p>
            <a:p>
              <a:pPr marL="603249" lvl="1" indent="-301625" algn="l">
                <a:lnSpc>
                  <a:spcPts val="4074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 = −s ensures obstacle field curls opposite to path field, allowing the UAV to pass around obstacles</a:t>
              </a:r>
            </a:p>
            <a:p>
              <a:pPr marL="603249" lvl="1" indent="-301625" algn="l">
                <a:lnSpc>
                  <a:spcPts val="4074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κobs controls how far the obstacle field's repulsive influence extends</a:t>
              </a:r>
            </a:p>
          </p:txBody>
        </p:sp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3285" y="2083474"/>
            <a:ext cx="5173514" cy="2048906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5880" y="2092999"/>
            <a:ext cx="5173514" cy="2134034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3139" y="2985144"/>
            <a:ext cx="13126400" cy="4460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Singularity-Free Angle Blending Strategy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554480"/>
            <a:ext cx="8229600" cy="585216"/>
            <a:chOff x="0" y="0"/>
            <a:chExt cx="10972800" cy="7802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972800" cy="780288"/>
            </a:xfrm>
            <a:custGeom>
              <a:avLst/>
              <a:gdLst/>
              <a:ahLst/>
              <a:cxnLst/>
              <a:rect l="l" t="t" r="r" b="b"/>
              <a:pathLst>
                <a:path w="10972800" h="780288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4008" b="-22400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097280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Singularity Problem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2194560"/>
            <a:ext cx="8229600" cy="1371600"/>
            <a:chOff x="0" y="0"/>
            <a:chExt cx="10972800" cy="1828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72800" cy="1828800"/>
            </a:xfrm>
            <a:custGeom>
              <a:avLst/>
              <a:gdLst/>
              <a:ahLst/>
              <a:cxnLst/>
              <a:rect l="l" t="t" r="r" b="b"/>
              <a:pathLst>
                <a:path w="10972800" h="1828800">
                  <a:moveTo>
                    <a:pt x="0" y="0"/>
                  </a:moveTo>
                  <a:lnTo>
                    <a:pt x="10972800" y="0"/>
                  </a:lnTo>
                  <a:lnTo>
                    <a:pt x="10972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10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0972800" cy="1876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 vector addition of </a:t>
              </a:r>
              <a:r>
                <a:rPr lang="en-US" sz="2499" b="1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</a:t>
              </a: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path and </a:t>
              </a:r>
              <a:r>
                <a:rPr lang="en-US" sz="2499" b="1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</a:t>
              </a: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obs creates null points where equal-magnitude opposing vectors cancel → UAV loses guidance entirely.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" y="3749040"/>
            <a:ext cx="8229600" cy="585216"/>
            <a:chOff x="0" y="0"/>
            <a:chExt cx="1097280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72800" cy="780288"/>
            </a:xfrm>
            <a:custGeom>
              <a:avLst/>
              <a:gdLst/>
              <a:ahLst/>
              <a:cxnLst/>
              <a:rect l="l" t="t" r="r" b="b"/>
              <a:pathLst>
                <a:path w="10972800" h="780288">
                  <a:moveTo>
                    <a:pt x="0" y="0"/>
                  </a:moveTo>
                  <a:lnTo>
                    <a:pt x="10972800" y="0"/>
                  </a:lnTo>
                  <a:lnTo>
                    <a:pt x="109728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4008" b="-224008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97280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065F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Angle-Based Blending Solution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0080" y="6874892"/>
            <a:ext cx="8229600" cy="3200400"/>
            <a:chOff x="0" y="0"/>
            <a:chExt cx="10972800" cy="4267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72800" cy="4267200"/>
            </a:xfrm>
            <a:custGeom>
              <a:avLst/>
              <a:gdLst/>
              <a:ahLst/>
              <a:cxnLst/>
              <a:rect l="l" t="t" r="r" b="b"/>
              <a:pathLst>
                <a:path w="10972800" h="4267200">
                  <a:moveTo>
                    <a:pt x="0" y="0"/>
                  </a:moveTo>
                  <a:lnTo>
                    <a:pt x="10972800" y="0"/>
                  </a:lnTo>
                  <a:lnTo>
                    <a:pt x="10972800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" b="-10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0972800" cy="4314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03249" lvl="1" indent="-301625" algn="l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PN = minimum perpendicular distance from UAV to obstacle</a:t>
              </a:r>
            </a:p>
            <a:p>
              <a:pPr marL="603249" lvl="1" indent="-301625" algn="l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wtf → 0 when far: guidance = χpath (path following only)</a:t>
              </a:r>
            </a:p>
            <a:p>
              <a:pPr marL="603249" lvl="1" indent="-301625" algn="l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wtf → 1 when PN ≈ δ: guidance blends toward χobs (avoidance)</a:t>
              </a:r>
            </a:p>
            <a:p>
              <a:pPr marL="603249" lvl="1" indent="-301625" algn="l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α controls the sharpness of field transition</a:t>
              </a:r>
            </a:p>
            <a:p>
              <a:pPr marL="603249" lvl="1" indent="-301625" algn="l">
                <a:lnSpc>
                  <a:spcPts val="2999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Angle addition guarantees no null vector regardless of field orientation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9535467" y="2880360"/>
            <a:ext cx="8291178" cy="4913291"/>
          </a:xfrm>
          <a:custGeom>
            <a:avLst/>
            <a:gdLst/>
            <a:ahLst/>
            <a:cxnLst/>
            <a:rect l="l" t="t" r="r" b="b"/>
            <a:pathLst>
              <a:path w="8291178" h="4913291">
                <a:moveTo>
                  <a:pt x="0" y="0"/>
                </a:moveTo>
                <a:lnTo>
                  <a:pt x="8291178" y="0"/>
                </a:lnTo>
                <a:lnTo>
                  <a:pt x="8291178" y="4913291"/>
                </a:lnTo>
                <a:lnTo>
                  <a:pt x="0" y="49132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71450" y="3939421"/>
            <a:ext cx="9738360" cy="2015609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>
            <a:off x="1028700" y="5381625"/>
            <a:ext cx="7840980" cy="456288"/>
            <a:chOff x="0" y="0"/>
            <a:chExt cx="10454640" cy="60838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454640" cy="608384"/>
            </a:xfrm>
            <a:custGeom>
              <a:avLst/>
              <a:gdLst/>
              <a:ahLst/>
              <a:cxnLst/>
              <a:rect l="l" t="t" r="r" b="b"/>
              <a:pathLst>
                <a:path w="10454640" h="608384">
                  <a:moveTo>
                    <a:pt x="0" y="0"/>
                  </a:moveTo>
                  <a:lnTo>
                    <a:pt x="10454640" y="0"/>
                  </a:lnTo>
                  <a:lnTo>
                    <a:pt x="10454640" y="608384"/>
                  </a:lnTo>
                  <a:lnTo>
                    <a:pt x="0" y="608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131" r="-4956" b="-401731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0454640" cy="6560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and</a:t>
              </a:r>
            </a:p>
          </p:txBody>
        </p:sp>
      </p:grpSp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1506" y="5498573"/>
            <a:ext cx="4072082" cy="14775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 For Angle Blending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7383" y="1541783"/>
            <a:ext cx="9784418" cy="2622299"/>
            <a:chOff x="0" y="0"/>
            <a:chExt cx="13045891" cy="3496399"/>
          </a:xfrm>
        </p:grpSpPr>
        <p:sp>
          <p:nvSpPr>
            <p:cNvPr id="9" name="Freeform 9"/>
            <p:cNvSpPr/>
            <p:nvPr/>
          </p:nvSpPr>
          <p:spPr>
            <a:xfrm>
              <a:off x="19801" y="16891"/>
              <a:ext cx="13006184" cy="3462528"/>
            </a:xfrm>
            <a:custGeom>
              <a:avLst/>
              <a:gdLst/>
              <a:ahLst/>
              <a:cxnLst/>
              <a:rect l="l" t="t" r="r" b="b"/>
              <a:pathLst>
                <a:path w="13006184" h="3462528">
                  <a:moveTo>
                    <a:pt x="0" y="0"/>
                  </a:moveTo>
                  <a:lnTo>
                    <a:pt x="13006184" y="0"/>
                  </a:lnTo>
                  <a:lnTo>
                    <a:pt x="13006184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3045787" cy="3496310"/>
            </a:xfrm>
            <a:custGeom>
              <a:avLst/>
              <a:gdLst/>
              <a:ahLst/>
              <a:cxnLst/>
              <a:rect l="l" t="t" r="r" b="b"/>
              <a:pathLst>
                <a:path w="13045787" h="3496310">
                  <a:moveTo>
                    <a:pt x="19801" y="0"/>
                  </a:moveTo>
                  <a:lnTo>
                    <a:pt x="13025985" y="0"/>
                  </a:lnTo>
                  <a:cubicBezTo>
                    <a:pt x="13037003" y="0"/>
                    <a:pt x="13045787" y="7620"/>
                    <a:pt x="13045787" y="16891"/>
                  </a:cubicBezTo>
                  <a:lnTo>
                    <a:pt x="13045787" y="3479419"/>
                  </a:lnTo>
                  <a:cubicBezTo>
                    <a:pt x="13045787" y="3488817"/>
                    <a:pt x="13036854" y="3496310"/>
                    <a:pt x="13025985" y="3496310"/>
                  </a:cubicBezTo>
                  <a:lnTo>
                    <a:pt x="19801" y="3496310"/>
                  </a:lnTo>
                  <a:cubicBezTo>
                    <a:pt x="8784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8933" y="0"/>
                    <a:pt x="19801" y="0"/>
                  </a:cubicBezTo>
                  <a:moveTo>
                    <a:pt x="19801" y="33909"/>
                  </a:moveTo>
                  <a:lnTo>
                    <a:pt x="19801" y="16891"/>
                  </a:lnTo>
                  <a:lnTo>
                    <a:pt x="39751" y="16891"/>
                  </a:lnTo>
                  <a:lnTo>
                    <a:pt x="39751" y="3479419"/>
                  </a:lnTo>
                  <a:lnTo>
                    <a:pt x="19801" y="3479419"/>
                  </a:lnTo>
                  <a:lnTo>
                    <a:pt x="19801" y="3462528"/>
                  </a:lnTo>
                  <a:lnTo>
                    <a:pt x="13025985" y="3462528"/>
                  </a:lnTo>
                  <a:lnTo>
                    <a:pt x="13025985" y="3479419"/>
                  </a:lnTo>
                  <a:lnTo>
                    <a:pt x="13006184" y="3479419"/>
                  </a:lnTo>
                  <a:lnTo>
                    <a:pt x="13006184" y="16891"/>
                  </a:lnTo>
                  <a:lnTo>
                    <a:pt x="13025985" y="16891"/>
                  </a:lnTo>
                  <a:lnTo>
                    <a:pt x="13025985" y="33909"/>
                  </a:lnTo>
                  <a:lnTo>
                    <a:pt x="1980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27383" y="1541783"/>
            <a:ext cx="1959269" cy="2622299"/>
            <a:chOff x="0" y="0"/>
            <a:chExt cx="2612358" cy="3496399"/>
          </a:xfrm>
        </p:grpSpPr>
        <p:sp>
          <p:nvSpPr>
            <p:cNvPr id="12" name="Freeform 12"/>
            <p:cNvSpPr/>
            <p:nvPr/>
          </p:nvSpPr>
          <p:spPr>
            <a:xfrm>
              <a:off x="19801" y="16891"/>
              <a:ext cx="2572652" cy="3462528"/>
            </a:xfrm>
            <a:custGeom>
              <a:avLst/>
              <a:gdLst/>
              <a:ahLst/>
              <a:cxnLst/>
              <a:rect l="l" t="t" r="r" b="b"/>
              <a:pathLst>
                <a:path w="2572652" h="3462528">
                  <a:moveTo>
                    <a:pt x="0" y="0"/>
                  </a:moveTo>
                  <a:lnTo>
                    <a:pt x="2572652" y="0"/>
                  </a:lnTo>
                  <a:lnTo>
                    <a:pt x="2572652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1D4ED8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2612254" cy="3496310"/>
            </a:xfrm>
            <a:custGeom>
              <a:avLst/>
              <a:gdLst/>
              <a:ahLst/>
              <a:cxnLst/>
              <a:rect l="l" t="t" r="r" b="b"/>
              <a:pathLst>
                <a:path w="2612254" h="3496310">
                  <a:moveTo>
                    <a:pt x="19801" y="0"/>
                  </a:moveTo>
                  <a:lnTo>
                    <a:pt x="2592453" y="0"/>
                  </a:lnTo>
                  <a:cubicBezTo>
                    <a:pt x="2603470" y="0"/>
                    <a:pt x="2612254" y="7620"/>
                    <a:pt x="2612254" y="16891"/>
                  </a:cubicBezTo>
                  <a:lnTo>
                    <a:pt x="2612254" y="3479419"/>
                  </a:lnTo>
                  <a:cubicBezTo>
                    <a:pt x="2612254" y="3488817"/>
                    <a:pt x="2603321" y="3496310"/>
                    <a:pt x="2592453" y="3496310"/>
                  </a:cubicBezTo>
                  <a:lnTo>
                    <a:pt x="19801" y="3496310"/>
                  </a:lnTo>
                  <a:cubicBezTo>
                    <a:pt x="8784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8933" y="0"/>
                    <a:pt x="19801" y="0"/>
                  </a:cubicBezTo>
                  <a:moveTo>
                    <a:pt x="19801" y="33909"/>
                  </a:moveTo>
                  <a:lnTo>
                    <a:pt x="19801" y="16891"/>
                  </a:lnTo>
                  <a:lnTo>
                    <a:pt x="39751" y="16891"/>
                  </a:lnTo>
                  <a:lnTo>
                    <a:pt x="39751" y="3479419"/>
                  </a:lnTo>
                  <a:lnTo>
                    <a:pt x="19801" y="3479419"/>
                  </a:lnTo>
                  <a:lnTo>
                    <a:pt x="19801" y="3462528"/>
                  </a:lnTo>
                  <a:lnTo>
                    <a:pt x="2592453" y="3462528"/>
                  </a:lnTo>
                  <a:lnTo>
                    <a:pt x="2592453" y="3479419"/>
                  </a:lnTo>
                  <a:lnTo>
                    <a:pt x="2572652" y="3479419"/>
                  </a:lnTo>
                  <a:lnTo>
                    <a:pt x="2572652" y="16891"/>
                  </a:lnTo>
                  <a:lnTo>
                    <a:pt x="2592453" y="16891"/>
                  </a:lnTo>
                  <a:lnTo>
                    <a:pt x="2592453" y="33909"/>
                  </a:lnTo>
                  <a:lnTo>
                    <a:pt x="19801" y="33909"/>
                  </a:lnTo>
                  <a:close/>
                </a:path>
              </a:pathLst>
            </a:custGeom>
            <a:solidFill>
              <a:srgbClr val="1D4ED8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57163" y="2605571"/>
            <a:ext cx="1929489" cy="494723"/>
            <a:chOff x="0" y="0"/>
            <a:chExt cx="2572652" cy="6596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72652" cy="659631"/>
            </a:xfrm>
            <a:custGeom>
              <a:avLst/>
              <a:gdLst/>
              <a:ahLst/>
              <a:cxnLst/>
              <a:rect l="l" t="t" r="r" b="b"/>
              <a:pathLst>
                <a:path w="2572652" h="659631">
                  <a:moveTo>
                    <a:pt x="0" y="0"/>
                  </a:moveTo>
                  <a:lnTo>
                    <a:pt x="2572652" y="0"/>
                  </a:lnTo>
                  <a:lnTo>
                    <a:pt x="2572652" y="659631"/>
                  </a:lnTo>
                  <a:lnTo>
                    <a:pt x="0" y="6596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473" r="-27777" b="-158762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572652" cy="70725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I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990160" y="1667764"/>
            <a:ext cx="6977971" cy="731520"/>
            <a:chOff x="0" y="0"/>
            <a:chExt cx="9303961" cy="9753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303961" cy="975360"/>
            </a:xfrm>
            <a:custGeom>
              <a:avLst/>
              <a:gdLst/>
              <a:ahLst/>
              <a:cxnLst/>
              <a:rect l="l" t="t" r="r" b="b"/>
              <a:pathLst>
                <a:path w="9303961" h="975360">
                  <a:moveTo>
                    <a:pt x="0" y="0"/>
                  </a:moveTo>
                  <a:lnTo>
                    <a:pt x="9303961" y="0"/>
                  </a:lnTo>
                  <a:lnTo>
                    <a:pt x="9303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5622" r="10892" b="-11562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9303961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D4E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Obstacle completely outside path (r&gt;0 everywhere)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990160" y="2445108"/>
            <a:ext cx="6977971" cy="1386459"/>
            <a:chOff x="0" y="0"/>
            <a:chExt cx="9303961" cy="18486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303961" cy="1848612"/>
            </a:xfrm>
            <a:custGeom>
              <a:avLst/>
              <a:gdLst/>
              <a:ahLst/>
              <a:cxnLst/>
              <a:rect l="l" t="t" r="r" b="b"/>
              <a:pathLst>
                <a:path w="9303961" h="1848612">
                  <a:moveTo>
                    <a:pt x="0" y="0"/>
                  </a:moveTo>
                  <a:lnTo>
                    <a:pt x="9303961" y="0"/>
                  </a:lnTo>
                  <a:lnTo>
                    <a:pt x="9303961" y="1848612"/>
                  </a:lnTo>
                  <a:lnTo>
                    <a:pt x="0" y="18486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028" r="10892" b="-46742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9303961" cy="18962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Compute bifurcation angle ζ from foot of perpendicular M on C₁ from obstacle COM. Re-wrap χpath and χobs to [ζ, ζ+2π) for smooth blending.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7383" y="4376423"/>
            <a:ext cx="9784418" cy="2622299"/>
            <a:chOff x="0" y="0"/>
            <a:chExt cx="13045891" cy="3496399"/>
          </a:xfrm>
        </p:grpSpPr>
        <p:sp>
          <p:nvSpPr>
            <p:cNvPr id="24" name="Freeform 24"/>
            <p:cNvSpPr/>
            <p:nvPr/>
          </p:nvSpPr>
          <p:spPr>
            <a:xfrm>
              <a:off x="19801" y="16891"/>
              <a:ext cx="13006184" cy="3462528"/>
            </a:xfrm>
            <a:custGeom>
              <a:avLst/>
              <a:gdLst/>
              <a:ahLst/>
              <a:cxnLst/>
              <a:rect l="l" t="t" r="r" b="b"/>
              <a:pathLst>
                <a:path w="13006184" h="3462528">
                  <a:moveTo>
                    <a:pt x="0" y="0"/>
                  </a:moveTo>
                  <a:lnTo>
                    <a:pt x="13006184" y="0"/>
                  </a:lnTo>
                  <a:lnTo>
                    <a:pt x="13006184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3045787" cy="3496310"/>
            </a:xfrm>
            <a:custGeom>
              <a:avLst/>
              <a:gdLst/>
              <a:ahLst/>
              <a:cxnLst/>
              <a:rect l="l" t="t" r="r" b="b"/>
              <a:pathLst>
                <a:path w="13045787" h="3496310">
                  <a:moveTo>
                    <a:pt x="19801" y="0"/>
                  </a:moveTo>
                  <a:lnTo>
                    <a:pt x="13025985" y="0"/>
                  </a:lnTo>
                  <a:cubicBezTo>
                    <a:pt x="13037003" y="0"/>
                    <a:pt x="13045787" y="7620"/>
                    <a:pt x="13045787" y="16891"/>
                  </a:cubicBezTo>
                  <a:lnTo>
                    <a:pt x="13045787" y="3479419"/>
                  </a:lnTo>
                  <a:cubicBezTo>
                    <a:pt x="13045787" y="3488817"/>
                    <a:pt x="13036854" y="3496310"/>
                    <a:pt x="13025985" y="3496310"/>
                  </a:cubicBezTo>
                  <a:lnTo>
                    <a:pt x="19801" y="3496310"/>
                  </a:lnTo>
                  <a:cubicBezTo>
                    <a:pt x="8784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8933" y="0"/>
                    <a:pt x="19801" y="0"/>
                  </a:cubicBezTo>
                  <a:moveTo>
                    <a:pt x="19801" y="33909"/>
                  </a:moveTo>
                  <a:lnTo>
                    <a:pt x="19801" y="16891"/>
                  </a:lnTo>
                  <a:lnTo>
                    <a:pt x="39751" y="16891"/>
                  </a:lnTo>
                  <a:lnTo>
                    <a:pt x="39751" y="3479419"/>
                  </a:lnTo>
                  <a:lnTo>
                    <a:pt x="19801" y="3479419"/>
                  </a:lnTo>
                  <a:lnTo>
                    <a:pt x="19801" y="3462528"/>
                  </a:lnTo>
                  <a:lnTo>
                    <a:pt x="13025985" y="3462528"/>
                  </a:lnTo>
                  <a:lnTo>
                    <a:pt x="13025985" y="3479419"/>
                  </a:lnTo>
                  <a:lnTo>
                    <a:pt x="13006184" y="3479419"/>
                  </a:lnTo>
                  <a:lnTo>
                    <a:pt x="13006184" y="16891"/>
                  </a:lnTo>
                  <a:lnTo>
                    <a:pt x="13025985" y="16891"/>
                  </a:lnTo>
                  <a:lnTo>
                    <a:pt x="13025985" y="33909"/>
                  </a:lnTo>
                  <a:lnTo>
                    <a:pt x="1980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27383" y="4376423"/>
            <a:ext cx="1959269" cy="2622299"/>
            <a:chOff x="0" y="0"/>
            <a:chExt cx="2612358" cy="3496399"/>
          </a:xfrm>
        </p:grpSpPr>
        <p:sp>
          <p:nvSpPr>
            <p:cNvPr id="27" name="Freeform 27"/>
            <p:cNvSpPr/>
            <p:nvPr/>
          </p:nvSpPr>
          <p:spPr>
            <a:xfrm>
              <a:off x="19801" y="16891"/>
              <a:ext cx="2572652" cy="3462528"/>
            </a:xfrm>
            <a:custGeom>
              <a:avLst/>
              <a:gdLst/>
              <a:ahLst/>
              <a:cxnLst/>
              <a:rect l="l" t="t" r="r" b="b"/>
              <a:pathLst>
                <a:path w="2572652" h="3462528">
                  <a:moveTo>
                    <a:pt x="0" y="0"/>
                  </a:moveTo>
                  <a:lnTo>
                    <a:pt x="2572652" y="0"/>
                  </a:lnTo>
                  <a:lnTo>
                    <a:pt x="2572652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B45309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2612254" cy="3496310"/>
            </a:xfrm>
            <a:custGeom>
              <a:avLst/>
              <a:gdLst/>
              <a:ahLst/>
              <a:cxnLst/>
              <a:rect l="l" t="t" r="r" b="b"/>
              <a:pathLst>
                <a:path w="2612254" h="3496310">
                  <a:moveTo>
                    <a:pt x="19801" y="0"/>
                  </a:moveTo>
                  <a:lnTo>
                    <a:pt x="2592453" y="0"/>
                  </a:lnTo>
                  <a:cubicBezTo>
                    <a:pt x="2603470" y="0"/>
                    <a:pt x="2612254" y="7620"/>
                    <a:pt x="2612254" y="16891"/>
                  </a:cubicBezTo>
                  <a:lnTo>
                    <a:pt x="2612254" y="3479419"/>
                  </a:lnTo>
                  <a:cubicBezTo>
                    <a:pt x="2612254" y="3488817"/>
                    <a:pt x="2603321" y="3496310"/>
                    <a:pt x="2592453" y="3496310"/>
                  </a:cubicBezTo>
                  <a:lnTo>
                    <a:pt x="19801" y="3496310"/>
                  </a:lnTo>
                  <a:cubicBezTo>
                    <a:pt x="8784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8933" y="0"/>
                    <a:pt x="19801" y="0"/>
                  </a:cubicBezTo>
                  <a:moveTo>
                    <a:pt x="19801" y="33909"/>
                  </a:moveTo>
                  <a:lnTo>
                    <a:pt x="19801" y="16891"/>
                  </a:lnTo>
                  <a:lnTo>
                    <a:pt x="39751" y="16891"/>
                  </a:lnTo>
                  <a:lnTo>
                    <a:pt x="39751" y="3479419"/>
                  </a:lnTo>
                  <a:lnTo>
                    <a:pt x="19801" y="3479419"/>
                  </a:lnTo>
                  <a:lnTo>
                    <a:pt x="19801" y="3462528"/>
                  </a:lnTo>
                  <a:lnTo>
                    <a:pt x="2592453" y="3462528"/>
                  </a:lnTo>
                  <a:lnTo>
                    <a:pt x="2592453" y="3479419"/>
                  </a:lnTo>
                  <a:lnTo>
                    <a:pt x="2572652" y="3479419"/>
                  </a:lnTo>
                  <a:lnTo>
                    <a:pt x="2572652" y="16891"/>
                  </a:lnTo>
                  <a:lnTo>
                    <a:pt x="2592453" y="16891"/>
                  </a:lnTo>
                  <a:lnTo>
                    <a:pt x="2592453" y="33909"/>
                  </a:lnTo>
                  <a:lnTo>
                    <a:pt x="19801" y="33909"/>
                  </a:lnTo>
                  <a:close/>
                </a:path>
              </a:pathLst>
            </a:custGeom>
            <a:solidFill>
              <a:srgbClr val="B45309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57163" y="5372100"/>
            <a:ext cx="1929489" cy="525780"/>
            <a:chOff x="0" y="0"/>
            <a:chExt cx="2572652" cy="7010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572652" cy="701040"/>
            </a:xfrm>
            <a:custGeom>
              <a:avLst/>
              <a:gdLst/>
              <a:ahLst/>
              <a:cxnLst/>
              <a:rect l="l" t="t" r="r" b="b"/>
              <a:pathLst>
                <a:path w="2572652" h="701040">
                  <a:moveTo>
                    <a:pt x="0" y="0"/>
                  </a:moveTo>
                  <a:lnTo>
                    <a:pt x="2572652" y="0"/>
                  </a:lnTo>
                  <a:lnTo>
                    <a:pt x="2572652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473" r="-27777" b="-143478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2572652" cy="7486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II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990160" y="4480560"/>
            <a:ext cx="6977971" cy="731520"/>
            <a:chOff x="0" y="0"/>
            <a:chExt cx="9303961" cy="9753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303961" cy="975360"/>
            </a:xfrm>
            <a:custGeom>
              <a:avLst/>
              <a:gdLst/>
              <a:ahLst/>
              <a:cxnLst/>
              <a:rect l="l" t="t" r="r" b="b"/>
              <a:pathLst>
                <a:path w="9303961" h="975360">
                  <a:moveTo>
                    <a:pt x="0" y="0"/>
                  </a:moveTo>
                  <a:lnTo>
                    <a:pt x="9303961" y="0"/>
                  </a:lnTo>
                  <a:lnTo>
                    <a:pt x="9303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5622" r="10892" b="-115622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9303961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B4530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Obstacle intersects path (r &gt;= 0 and r &lt; 0 regions)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990160" y="5253606"/>
            <a:ext cx="6977971" cy="1347161"/>
            <a:chOff x="0" y="0"/>
            <a:chExt cx="9303961" cy="179621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303961" cy="1796215"/>
            </a:xfrm>
            <a:custGeom>
              <a:avLst/>
              <a:gdLst/>
              <a:ahLst/>
              <a:cxnLst/>
              <a:rect l="l" t="t" r="r" b="b"/>
              <a:pathLst>
                <a:path w="9303961" h="1796215">
                  <a:moveTo>
                    <a:pt x="0" y="0"/>
                  </a:moveTo>
                  <a:lnTo>
                    <a:pt x="9303961" y="0"/>
                  </a:lnTo>
                  <a:lnTo>
                    <a:pt x="9303961" y="1796215"/>
                  </a:lnTo>
                  <a:lnTo>
                    <a:pt x="0" y="17962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846" r="10892" b="-51023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9303961" cy="18438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Inside region</a:t>
              </a:r>
              <a:r>
                <a:rPr lang="en-US" sz="21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enforce so to curl opposite path.</a:t>
              </a:r>
            </a:p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outside region</a:t>
              </a:r>
              <a:r>
                <a:rPr lang="en-US" sz="21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enforce so to curl same as path. Prevents trapping at premature stable points.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7383" y="7211063"/>
            <a:ext cx="9784418" cy="2622299"/>
            <a:chOff x="0" y="0"/>
            <a:chExt cx="13045891" cy="3496399"/>
          </a:xfrm>
        </p:grpSpPr>
        <p:sp>
          <p:nvSpPr>
            <p:cNvPr id="39" name="Freeform 39"/>
            <p:cNvSpPr/>
            <p:nvPr/>
          </p:nvSpPr>
          <p:spPr>
            <a:xfrm>
              <a:off x="19801" y="16891"/>
              <a:ext cx="13006184" cy="3462528"/>
            </a:xfrm>
            <a:custGeom>
              <a:avLst/>
              <a:gdLst/>
              <a:ahLst/>
              <a:cxnLst/>
              <a:rect l="l" t="t" r="r" b="b"/>
              <a:pathLst>
                <a:path w="13006184" h="3462528">
                  <a:moveTo>
                    <a:pt x="0" y="0"/>
                  </a:moveTo>
                  <a:lnTo>
                    <a:pt x="13006184" y="0"/>
                  </a:lnTo>
                  <a:lnTo>
                    <a:pt x="13006184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13045787" cy="3496310"/>
            </a:xfrm>
            <a:custGeom>
              <a:avLst/>
              <a:gdLst/>
              <a:ahLst/>
              <a:cxnLst/>
              <a:rect l="l" t="t" r="r" b="b"/>
              <a:pathLst>
                <a:path w="13045787" h="3496310">
                  <a:moveTo>
                    <a:pt x="19801" y="0"/>
                  </a:moveTo>
                  <a:lnTo>
                    <a:pt x="13025985" y="0"/>
                  </a:lnTo>
                  <a:cubicBezTo>
                    <a:pt x="13037003" y="0"/>
                    <a:pt x="13045787" y="7620"/>
                    <a:pt x="13045787" y="16891"/>
                  </a:cubicBezTo>
                  <a:lnTo>
                    <a:pt x="13045787" y="3479419"/>
                  </a:lnTo>
                  <a:cubicBezTo>
                    <a:pt x="13045787" y="3488817"/>
                    <a:pt x="13036854" y="3496310"/>
                    <a:pt x="13025985" y="3496310"/>
                  </a:cubicBezTo>
                  <a:lnTo>
                    <a:pt x="19801" y="3496310"/>
                  </a:lnTo>
                  <a:cubicBezTo>
                    <a:pt x="8784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8933" y="0"/>
                    <a:pt x="19801" y="0"/>
                  </a:cubicBezTo>
                  <a:moveTo>
                    <a:pt x="19801" y="33909"/>
                  </a:moveTo>
                  <a:lnTo>
                    <a:pt x="19801" y="16891"/>
                  </a:lnTo>
                  <a:lnTo>
                    <a:pt x="39751" y="16891"/>
                  </a:lnTo>
                  <a:lnTo>
                    <a:pt x="39751" y="3479419"/>
                  </a:lnTo>
                  <a:lnTo>
                    <a:pt x="19801" y="3479419"/>
                  </a:lnTo>
                  <a:lnTo>
                    <a:pt x="19801" y="3462528"/>
                  </a:lnTo>
                  <a:lnTo>
                    <a:pt x="13025985" y="3462528"/>
                  </a:lnTo>
                  <a:lnTo>
                    <a:pt x="13025985" y="3479419"/>
                  </a:lnTo>
                  <a:lnTo>
                    <a:pt x="13006184" y="3479419"/>
                  </a:lnTo>
                  <a:lnTo>
                    <a:pt x="13006184" y="16891"/>
                  </a:lnTo>
                  <a:lnTo>
                    <a:pt x="13025985" y="16891"/>
                  </a:lnTo>
                  <a:lnTo>
                    <a:pt x="13025985" y="33909"/>
                  </a:lnTo>
                  <a:lnTo>
                    <a:pt x="1980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27383" y="7211063"/>
            <a:ext cx="1959269" cy="2622299"/>
            <a:chOff x="0" y="0"/>
            <a:chExt cx="2612358" cy="3496399"/>
          </a:xfrm>
        </p:grpSpPr>
        <p:sp>
          <p:nvSpPr>
            <p:cNvPr id="42" name="Freeform 42"/>
            <p:cNvSpPr/>
            <p:nvPr/>
          </p:nvSpPr>
          <p:spPr>
            <a:xfrm>
              <a:off x="19801" y="16891"/>
              <a:ext cx="2572652" cy="3462528"/>
            </a:xfrm>
            <a:custGeom>
              <a:avLst/>
              <a:gdLst/>
              <a:ahLst/>
              <a:cxnLst/>
              <a:rect l="l" t="t" r="r" b="b"/>
              <a:pathLst>
                <a:path w="2572652" h="3462528">
                  <a:moveTo>
                    <a:pt x="0" y="0"/>
                  </a:moveTo>
                  <a:lnTo>
                    <a:pt x="2572652" y="0"/>
                  </a:lnTo>
                  <a:lnTo>
                    <a:pt x="2572652" y="3462528"/>
                  </a:lnTo>
                  <a:lnTo>
                    <a:pt x="0" y="3462528"/>
                  </a:lnTo>
                  <a:close/>
                </a:path>
              </a:pathLst>
            </a:custGeom>
            <a:solidFill>
              <a:srgbClr val="065F46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2612254" cy="3496310"/>
            </a:xfrm>
            <a:custGeom>
              <a:avLst/>
              <a:gdLst/>
              <a:ahLst/>
              <a:cxnLst/>
              <a:rect l="l" t="t" r="r" b="b"/>
              <a:pathLst>
                <a:path w="2612254" h="3496310">
                  <a:moveTo>
                    <a:pt x="19801" y="0"/>
                  </a:moveTo>
                  <a:lnTo>
                    <a:pt x="2592453" y="0"/>
                  </a:lnTo>
                  <a:cubicBezTo>
                    <a:pt x="2603470" y="0"/>
                    <a:pt x="2612254" y="7620"/>
                    <a:pt x="2612254" y="16891"/>
                  </a:cubicBezTo>
                  <a:lnTo>
                    <a:pt x="2612254" y="3479419"/>
                  </a:lnTo>
                  <a:cubicBezTo>
                    <a:pt x="2612254" y="3488817"/>
                    <a:pt x="2603321" y="3496310"/>
                    <a:pt x="2592453" y="3496310"/>
                  </a:cubicBezTo>
                  <a:lnTo>
                    <a:pt x="19801" y="3496310"/>
                  </a:lnTo>
                  <a:cubicBezTo>
                    <a:pt x="8784" y="3496310"/>
                    <a:pt x="0" y="3488690"/>
                    <a:pt x="0" y="3479419"/>
                  </a:cubicBezTo>
                  <a:lnTo>
                    <a:pt x="0" y="16891"/>
                  </a:lnTo>
                  <a:cubicBezTo>
                    <a:pt x="0" y="7620"/>
                    <a:pt x="8933" y="0"/>
                    <a:pt x="19801" y="0"/>
                  </a:cubicBezTo>
                  <a:moveTo>
                    <a:pt x="19801" y="33909"/>
                  </a:moveTo>
                  <a:lnTo>
                    <a:pt x="19801" y="16891"/>
                  </a:lnTo>
                  <a:lnTo>
                    <a:pt x="39751" y="16891"/>
                  </a:lnTo>
                  <a:lnTo>
                    <a:pt x="39751" y="3479419"/>
                  </a:lnTo>
                  <a:lnTo>
                    <a:pt x="19801" y="3479419"/>
                  </a:lnTo>
                  <a:lnTo>
                    <a:pt x="19801" y="3462528"/>
                  </a:lnTo>
                  <a:lnTo>
                    <a:pt x="2592453" y="3462528"/>
                  </a:lnTo>
                  <a:lnTo>
                    <a:pt x="2592453" y="3479419"/>
                  </a:lnTo>
                  <a:lnTo>
                    <a:pt x="2572652" y="3479419"/>
                  </a:lnTo>
                  <a:lnTo>
                    <a:pt x="2572652" y="16891"/>
                  </a:lnTo>
                  <a:lnTo>
                    <a:pt x="2592453" y="16891"/>
                  </a:lnTo>
                  <a:lnTo>
                    <a:pt x="2592453" y="33909"/>
                  </a:lnTo>
                  <a:lnTo>
                    <a:pt x="19801" y="33909"/>
                  </a:lnTo>
                  <a:close/>
                </a:path>
              </a:pathLst>
            </a:custGeom>
            <a:solidFill>
              <a:srgbClr val="065F46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642267" y="8208397"/>
            <a:ext cx="1929489" cy="494723"/>
            <a:chOff x="0" y="0"/>
            <a:chExt cx="2572652" cy="65963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572652" cy="659631"/>
            </a:xfrm>
            <a:custGeom>
              <a:avLst/>
              <a:gdLst/>
              <a:ahLst/>
              <a:cxnLst/>
              <a:rect l="l" t="t" r="r" b="b"/>
              <a:pathLst>
                <a:path w="2572652" h="659631">
                  <a:moveTo>
                    <a:pt x="0" y="0"/>
                  </a:moveTo>
                  <a:lnTo>
                    <a:pt x="2572652" y="0"/>
                  </a:lnTo>
                  <a:lnTo>
                    <a:pt x="2572652" y="659631"/>
                  </a:lnTo>
                  <a:lnTo>
                    <a:pt x="0" y="6596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2473" r="-27777" b="-158762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2572652" cy="707256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999"/>
                </a:lnSpc>
              </a:pPr>
              <a:r>
                <a:rPr lang="en-US" sz="24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III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990160" y="7315200"/>
            <a:ext cx="6977971" cy="731520"/>
            <a:chOff x="0" y="0"/>
            <a:chExt cx="9303961" cy="97536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303961" cy="975360"/>
            </a:xfrm>
            <a:custGeom>
              <a:avLst/>
              <a:gdLst/>
              <a:ahLst/>
              <a:cxnLst/>
              <a:rect l="l" t="t" r="r" b="b"/>
              <a:pathLst>
                <a:path w="9303961" h="975360">
                  <a:moveTo>
                    <a:pt x="0" y="0"/>
                  </a:moveTo>
                  <a:lnTo>
                    <a:pt x="9303961" y="0"/>
                  </a:lnTo>
                  <a:lnTo>
                    <a:pt x="93039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5622" r="10892" b="-115622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9303961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065F4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Obstacle completely inside path (r&lt;0 everywhere)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990160" y="8090475"/>
            <a:ext cx="6977971" cy="1225291"/>
            <a:chOff x="0" y="0"/>
            <a:chExt cx="9303961" cy="163372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303961" cy="1633722"/>
            </a:xfrm>
            <a:custGeom>
              <a:avLst/>
              <a:gdLst/>
              <a:ahLst/>
              <a:cxnLst/>
              <a:rect l="l" t="t" r="r" b="b"/>
              <a:pathLst>
                <a:path w="9303961" h="1633722">
                  <a:moveTo>
                    <a:pt x="0" y="0"/>
                  </a:moveTo>
                  <a:lnTo>
                    <a:pt x="9303961" y="0"/>
                  </a:lnTo>
                  <a:lnTo>
                    <a:pt x="9303961" y="1633722"/>
                  </a:lnTo>
                  <a:lnTo>
                    <a:pt x="0" y="1633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715" r="10892" b="-66044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9303961" cy="16813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Apply same algorithm as CASE I. Bifurcation wrapping ensures symmetric approach from either side.</a:t>
              </a:r>
            </a:p>
          </p:txBody>
        </p:sp>
      </p:grpSp>
      <p:sp>
        <p:nvSpPr>
          <p:cNvPr id="53" name="Freeform 53"/>
          <p:cNvSpPr/>
          <p:nvPr/>
        </p:nvSpPr>
        <p:spPr>
          <a:xfrm>
            <a:off x="10722442" y="1329442"/>
            <a:ext cx="6925478" cy="4232932"/>
          </a:xfrm>
          <a:custGeom>
            <a:avLst/>
            <a:gdLst/>
            <a:ahLst/>
            <a:cxnLst/>
            <a:rect l="l" t="t" r="r" b="b"/>
            <a:pathLst>
              <a:path w="6925478" h="4232932">
                <a:moveTo>
                  <a:pt x="0" y="0"/>
                </a:moveTo>
                <a:lnTo>
                  <a:pt x="6925478" y="0"/>
                </a:lnTo>
                <a:lnTo>
                  <a:pt x="6925478" y="4232932"/>
                </a:lnTo>
                <a:lnTo>
                  <a:pt x="0" y="4232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722442" y="5747864"/>
            <a:ext cx="6925478" cy="4347315"/>
          </a:xfrm>
          <a:custGeom>
            <a:avLst/>
            <a:gdLst/>
            <a:ahLst/>
            <a:cxnLst/>
            <a:rect l="l" t="t" r="r" b="b"/>
            <a:pathLst>
              <a:path w="6925478" h="4347315">
                <a:moveTo>
                  <a:pt x="0" y="0"/>
                </a:moveTo>
                <a:lnTo>
                  <a:pt x="6925478" y="0"/>
                </a:lnTo>
                <a:lnTo>
                  <a:pt x="6925478" y="4347315"/>
                </a:lnTo>
                <a:lnTo>
                  <a:pt x="0" y="43473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 For Angle Blending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066237" y="1728029"/>
            <a:ext cx="12705447" cy="8011792"/>
          </a:xfrm>
          <a:custGeom>
            <a:avLst/>
            <a:gdLst/>
            <a:ahLst/>
            <a:cxnLst/>
            <a:rect l="l" t="t" r="r" b="b"/>
            <a:pathLst>
              <a:path w="12705447" h="8011792">
                <a:moveTo>
                  <a:pt x="0" y="0"/>
                </a:moveTo>
                <a:lnTo>
                  <a:pt x="12705447" y="0"/>
                </a:lnTo>
                <a:lnTo>
                  <a:pt x="12705447" y="8011792"/>
                </a:lnTo>
                <a:lnTo>
                  <a:pt x="0" y="8011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 of the Current Algorithm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768310"/>
            <a:ext cx="7132320" cy="3256973"/>
            <a:chOff x="0" y="0"/>
            <a:chExt cx="9509760" cy="43426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09760" cy="4342631"/>
            </a:xfrm>
            <a:custGeom>
              <a:avLst/>
              <a:gdLst/>
              <a:ahLst/>
              <a:cxnLst/>
              <a:rect l="l" t="t" r="r" b="b"/>
              <a:pathLst>
                <a:path w="9509760" h="4342631">
                  <a:moveTo>
                    <a:pt x="0" y="0"/>
                  </a:moveTo>
                  <a:lnTo>
                    <a:pt x="9509760" y="0"/>
                  </a:lnTo>
                  <a:lnTo>
                    <a:pt x="9509760" y="4342631"/>
                  </a:lnTo>
                  <a:lnTo>
                    <a:pt x="0" y="43426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86" r="-19086" b="-1791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0"/>
              <a:ext cx="9509760" cy="45331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03249" lvl="1" indent="-301625" algn="l">
                <a:lnSpc>
                  <a:spcPts val="4424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Artifacts appear in CASE II due to forced 2π shift in χpath or χobs</a:t>
              </a:r>
            </a:p>
            <a:p>
              <a:pPr marL="603249" lvl="1" indent="-301625" algn="l">
                <a:lnSpc>
                  <a:spcPts val="4424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Bifurcation may occur at multiple points for complex geometries</a:t>
              </a:r>
            </a:p>
            <a:p>
              <a:pPr marL="603249" lvl="1" indent="-301625" algn="l">
                <a:lnSpc>
                  <a:spcPts val="4424"/>
                </a:lnSpc>
                <a:buFont typeface="Arial"/>
                <a:buChar char="•"/>
              </a:pPr>
              <a:r>
                <a:rPr lang="en-US" sz="24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Premature stable points or loops can form near wrapping discontinuities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9684403" y="1607003"/>
            <a:ext cx="8183407" cy="5155546"/>
          </a:xfrm>
          <a:custGeom>
            <a:avLst/>
            <a:gdLst/>
            <a:ahLst/>
            <a:cxnLst/>
            <a:rect l="l" t="t" r="r" b="b"/>
            <a:pathLst>
              <a:path w="8183407" h="5155546">
                <a:moveTo>
                  <a:pt x="0" y="0"/>
                </a:moveTo>
                <a:lnTo>
                  <a:pt x="8183406" y="0"/>
                </a:lnTo>
                <a:lnTo>
                  <a:pt x="8183406" y="5155546"/>
                </a:lnTo>
                <a:lnTo>
                  <a:pt x="0" y="5155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Controller Design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609344"/>
            <a:ext cx="17007840" cy="585216"/>
            <a:chOff x="0" y="0"/>
            <a:chExt cx="22677120" cy="7802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780288"/>
            </a:xfrm>
            <a:custGeom>
              <a:avLst/>
              <a:gdLst/>
              <a:ahLst/>
              <a:cxnLst/>
              <a:rect l="l" t="t" r="r" b="b"/>
              <a:pathLst>
                <a:path w="22677120" h="780288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6283" b="-51628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267712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Saturated Proportional Course-Rate Controller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7383" y="2547623"/>
            <a:ext cx="1031243" cy="1031243"/>
            <a:chOff x="0" y="0"/>
            <a:chExt cx="1374991" cy="137499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40080" y="2560320"/>
            <a:ext cx="1005840" cy="1005840"/>
            <a:chOff x="0" y="0"/>
            <a:chExt cx="1341120" cy="13411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011680" y="2468880"/>
            <a:ext cx="6400800" cy="694944"/>
            <a:chOff x="0" y="0"/>
            <a:chExt cx="8534400" cy="9265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34400" cy="926592"/>
            </a:xfrm>
            <a:custGeom>
              <a:avLst/>
              <a:gdLst/>
              <a:ahLst/>
              <a:cxnLst/>
              <a:rect l="l" t="t" r="r" b="b"/>
              <a:pathLst>
                <a:path w="8534400" h="926592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467" b="-129467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Desired course from CVF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7383" y="4321559"/>
            <a:ext cx="1031243" cy="1031243"/>
            <a:chOff x="0" y="0"/>
            <a:chExt cx="1374991" cy="1374991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640080" y="4334256"/>
            <a:ext cx="1005840" cy="1005840"/>
            <a:chOff x="0" y="0"/>
            <a:chExt cx="1341120" cy="13411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011680" y="4242816"/>
            <a:ext cx="6400800" cy="694944"/>
            <a:chOff x="0" y="0"/>
            <a:chExt cx="8534400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534400" cy="926592"/>
            </a:xfrm>
            <a:custGeom>
              <a:avLst/>
              <a:gdLst/>
              <a:ahLst/>
              <a:cxnLst/>
              <a:rect l="l" t="t" r="r" b="b"/>
              <a:pathLst>
                <a:path w="8534400" h="926592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467" b="-12946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Course error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7383" y="6095495"/>
            <a:ext cx="1031243" cy="1031243"/>
            <a:chOff x="0" y="0"/>
            <a:chExt cx="1374991" cy="137499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640080" y="6108192"/>
            <a:ext cx="1005840" cy="1005840"/>
            <a:chOff x="0" y="0"/>
            <a:chExt cx="1341120" cy="13411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011680" y="6016752"/>
            <a:ext cx="6400800" cy="694944"/>
            <a:chOff x="0" y="0"/>
            <a:chExt cx="8534400" cy="92659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534400" cy="926592"/>
            </a:xfrm>
            <a:custGeom>
              <a:avLst/>
              <a:gdLst/>
              <a:ahLst/>
              <a:cxnLst/>
              <a:rect l="l" t="t" r="r" b="b"/>
              <a:pathLst>
                <a:path w="8534400" h="926592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467" b="-129467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law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7383" y="7869431"/>
            <a:ext cx="1031243" cy="1031243"/>
            <a:chOff x="0" y="0"/>
            <a:chExt cx="1374991" cy="1374991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1374902" cy="1374902"/>
            </a:xfrm>
            <a:custGeom>
              <a:avLst/>
              <a:gdLst/>
              <a:ahLst/>
              <a:cxnLst/>
              <a:rect l="l" t="t" r="r" b="b"/>
              <a:pathLst>
                <a:path w="1374902" h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40080" y="7882128"/>
            <a:ext cx="1005840" cy="1005840"/>
            <a:chOff x="0" y="0"/>
            <a:chExt cx="1341120" cy="13411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341120" cy="1341120"/>
            </a:xfrm>
            <a:custGeom>
              <a:avLst/>
              <a:gdLst/>
              <a:ahLst/>
              <a:cxnLst/>
              <a:rect l="l" t="t" r="r" b="b"/>
              <a:pathLst>
                <a:path w="1341120" h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13411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011680" y="7790688"/>
            <a:ext cx="6400800" cy="694944"/>
            <a:chOff x="0" y="0"/>
            <a:chExt cx="8534400" cy="9265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534400" cy="926592"/>
            </a:xfrm>
            <a:custGeom>
              <a:avLst/>
              <a:gdLst/>
              <a:ahLst/>
              <a:cxnLst/>
              <a:rect l="l" t="t" r="r" b="b"/>
              <a:pathLst>
                <a:path w="8534400" h="926592">
                  <a:moveTo>
                    <a:pt x="0" y="0"/>
                  </a:moveTo>
                  <a:lnTo>
                    <a:pt x="8534400" y="0"/>
                  </a:lnTo>
                  <a:lnTo>
                    <a:pt x="8534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467" b="-129467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853440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Saturation constraint</a:t>
              </a:r>
            </a:p>
          </p:txBody>
        </p:sp>
      </p:grpSp>
      <p:pic>
        <p:nvPicPr>
          <p:cNvPr id="47" name="Picture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880" y="3392898"/>
            <a:ext cx="571950" cy="382522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515" y="4759183"/>
            <a:ext cx="4124316" cy="1066679"/>
          </a:xfrm>
          <a:prstGeom prst="rect">
            <a:avLst/>
          </a:prstGeom>
        </p:spPr>
      </p:pic>
      <p:sp>
        <p:nvSpPr>
          <p:cNvPr id="49" name="TextBox 49"/>
          <p:cNvSpPr txBox="1"/>
          <p:nvPr/>
        </p:nvSpPr>
        <p:spPr>
          <a:xfrm>
            <a:off x="11392119" y="4958878"/>
            <a:ext cx="2914055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(wrapped to (−π, π])</a:t>
            </a: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6619" y="6328832"/>
            <a:ext cx="5623064" cy="1370847"/>
          </a:xfrm>
          <a:prstGeom prst="rect">
            <a:avLst/>
          </a:prstGeom>
        </p:spPr>
      </p:pic>
      <p:pic>
        <p:nvPicPr>
          <p:cNvPr id="51" name="Picture 5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0993" y="7976948"/>
            <a:ext cx="4994316" cy="16976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609344"/>
            <a:ext cx="17007840" cy="585216"/>
            <a:chOff x="0" y="0"/>
            <a:chExt cx="22677120" cy="7802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780288"/>
            </a:xfrm>
            <a:custGeom>
              <a:avLst/>
              <a:gdLst/>
              <a:ahLst/>
              <a:cxnLst/>
              <a:rect l="l" t="t" r="r" b="b"/>
              <a:pathLst>
                <a:path w="22677120" h="780288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6283" b="-51628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267712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Parameters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2668774"/>
            <a:ext cx="17007840" cy="3691948"/>
            <a:chOff x="0" y="0"/>
            <a:chExt cx="22677120" cy="49225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4922597"/>
            </a:xfrm>
            <a:custGeom>
              <a:avLst/>
              <a:gdLst/>
              <a:ahLst/>
              <a:cxnLst/>
              <a:rect l="l" t="t" r="r" b="b"/>
              <a:pathLst>
                <a:path w="22677120" h="4922597">
                  <a:moveTo>
                    <a:pt x="0" y="0"/>
                  </a:moveTo>
                  <a:lnTo>
                    <a:pt x="22677120" y="0"/>
                  </a:lnTo>
                  <a:lnTo>
                    <a:pt x="22677120" y="4922597"/>
                  </a:lnTo>
                  <a:lnTo>
                    <a:pt x="0" y="49225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836" b="2311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47650"/>
              <a:ext cx="22677120" cy="5170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39751" lvl="1" indent="-269876" algn="l">
                <a:lnSpc>
                  <a:spcPts val="5050"/>
                </a:lnSpc>
                <a:buFont typeface="Arial"/>
                <a:buChar char="•"/>
              </a:pPr>
              <a:r>
                <a:rPr lang="en-US" sz="2500" spc="12">
                  <a:solidFill>
                    <a:srgbClr val="1A3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UAV Air speed (Va) : 15 m/s</a:t>
              </a:r>
            </a:p>
            <a:p>
              <a:pPr marL="539751" lvl="1" indent="-269876" algn="l">
                <a:lnSpc>
                  <a:spcPts val="5050"/>
                </a:lnSpc>
                <a:buFont typeface="Arial"/>
                <a:buChar char="•"/>
              </a:pPr>
              <a:r>
                <a:rPr lang="en-US" sz="2500" spc="12">
                  <a:solidFill>
                    <a:srgbClr val="1A3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Initial Course Angle (χ0): - π/2 radians</a:t>
              </a:r>
            </a:p>
            <a:p>
              <a:pPr marL="539751" lvl="1" indent="-269876" algn="l">
                <a:lnSpc>
                  <a:spcPts val="5050"/>
                </a:lnSpc>
                <a:buFont typeface="Arial"/>
                <a:buChar char="•"/>
              </a:pPr>
              <a:r>
                <a:rPr lang="en-US" sz="2500" spc="12">
                  <a:solidFill>
                    <a:srgbClr val="1A3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Rotational sense of Path Vector Field (s): +1 (clock-wise)</a:t>
              </a:r>
            </a:p>
            <a:p>
              <a:pPr marL="539751" lvl="1" indent="-269876" algn="l">
                <a:lnSpc>
                  <a:spcPts val="5050"/>
                </a:lnSpc>
                <a:buFont typeface="Arial"/>
                <a:buChar char="•"/>
              </a:pPr>
              <a:r>
                <a:rPr lang="en-US" sz="2500" spc="12">
                  <a:solidFill>
                    <a:srgbClr val="1A3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Proportional feedback gain (kχ): 1.5</a:t>
              </a:r>
            </a:p>
            <a:p>
              <a:pPr marL="539751" lvl="1" indent="-269876" algn="l">
                <a:lnSpc>
                  <a:spcPts val="5050"/>
                </a:lnSpc>
                <a:buFont typeface="Arial"/>
                <a:buChar char="•"/>
              </a:pPr>
              <a:r>
                <a:rPr lang="en-US" sz="2500" spc="12">
                  <a:solidFill>
                    <a:srgbClr val="1A3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Maximum allowable roll angle (Φmax): π/4 radians</a:t>
              </a:r>
            </a:p>
            <a:p>
              <a:pPr marL="539751" lvl="1" indent="-269876" algn="l">
                <a:lnSpc>
                  <a:spcPts val="5050"/>
                </a:lnSpc>
                <a:buFont typeface="Arial"/>
                <a:buChar char="•"/>
              </a:pPr>
              <a:r>
                <a:rPr lang="en-US" sz="2500" spc="12">
                  <a:solidFill>
                    <a:srgbClr val="1A3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 : [6, 8]T  m/s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5" y="6836972"/>
            <a:ext cx="17007840" cy="585216"/>
            <a:chOff x="0" y="0"/>
            <a:chExt cx="22677120" cy="7802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677120" cy="780288"/>
            </a:xfrm>
            <a:custGeom>
              <a:avLst/>
              <a:gdLst/>
              <a:ahLst/>
              <a:cxnLst/>
              <a:rect l="l" t="t" r="r" b="b"/>
              <a:pathLst>
                <a:path w="22677120" h="780288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6283" b="-516283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2267712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3A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above parameters remains same for all simulations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— Circular Path, Circular Obstacle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579821"/>
            <a:ext cx="17007840" cy="643440"/>
            <a:chOff x="0" y="0"/>
            <a:chExt cx="22677120" cy="8579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857920"/>
            </a:xfrm>
            <a:custGeom>
              <a:avLst/>
              <a:gdLst/>
              <a:ahLst/>
              <a:cxnLst/>
              <a:rect l="l" t="t" r="r" b="b"/>
              <a:pathLst>
                <a:path w="22677120" h="857920">
                  <a:moveTo>
                    <a:pt x="0" y="0"/>
                  </a:moveTo>
                  <a:lnTo>
                    <a:pt x="22677120" y="0"/>
                  </a:lnTo>
                  <a:lnTo>
                    <a:pt x="22677120" y="857920"/>
                  </a:lnTo>
                  <a:lnTo>
                    <a:pt x="0" y="857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408" b="-45767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2677120" cy="9150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39"/>
                </a:lnSpc>
              </a:pPr>
              <a:r>
                <a:rPr lang="en-US" sz="2699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I: Obtacle is Completely Outside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8470661" y="2228171"/>
            <a:ext cx="9560680" cy="6023228"/>
          </a:xfrm>
          <a:custGeom>
            <a:avLst/>
            <a:gdLst/>
            <a:ahLst/>
            <a:cxnLst/>
            <a:rect l="l" t="t" r="r" b="b"/>
            <a:pathLst>
              <a:path w="9560680" h="6023228">
                <a:moveTo>
                  <a:pt x="0" y="0"/>
                </a:moveTo>
                <a:lnTo>
                  <a:pt x="9560681" y="0"/>
                </a:lnTo>
                <a:lnTo>
                  <a:pt x="9560681" y="6023228"/>
                </a:lnTo>
                <a:lnTo>
                  <a:pt x="0" y="6023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40080" y="2023236"/>
            <a:ext cx="5608915" cy="2367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4653"/>
              </a:lnSpc>
              <a:buFont typeface="Arial"/>
              <a:buChar char="•"/>
            </a:pPr>
            <a:r>
              <a:rPr lang="en-US" sz="2599">
                <a:solidFill>
                  <a:srgbClr val="1A3A6B"/>
                </a:solidFill>
                <a:latin typeface="Calibri (MS)"/>
                <a:ea typeface="Calibri (MS)"/>
                <a:cs typeface="Calibri (MS)"/>
                <a:sym typeface="Calibri (MS)"/>
              </a:rPr>
              <a:t> C₁ centered at (10, 15)m, R = 400m </a:t>
            </a:r>
            <a:r>
              <a:rPr lang="en-US" sz="2599" b="1">
                <a:solidFill>
                  <a:srgbClr val="1A3A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|</a:t>
            </a:r>
            <a:r>
              <a:rPr lang="en-US" sz="2599">
                <a:solidFill>
                  <a:srgbClr val="1A3A6B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4653"/>
              </a:lnSpc>
            </a:pPr>
            <a:r>
              <a:rPr lang="en-US" sz="2599">
                <a:solidFill>
                  <a:srgbClr val="1A3A6B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C₂ centered at (600, 400)m, R = 100m</a:t>
            </a:r>
          </a:p>
          <a:p>
            <a:pPr marL="561339" lvl="1" indent="-280669" algn="l">
              <a:lnSpc>
                <a:spcPts val="4653"/>
              </a:lnSpc>
              <a:buFont typeface="Arial"/>
              <a:buChar char="•"/>
            </a:pPr>
            <a:r>
              <a:rPr lang="en-US" sz="2599">
                <a:solidFill>
                  <a:srgbClr val="1A3A6B"/>
                </a:solidFill>
                <a:latin typeface="Calibri (MS)"/>
                <a:ea typeface="Calibri (MS)"/>
                <a:cs typeface="Calibri (MS)"/>
                <a:sym typeface="Calibri (MS)"/>
              </a:rPr>
              <a:t>κ = 20 | κobs = 5</a:t>
            </a:r>
          </a:p>
          <a:p>
            <a:pPr marL="561339" lvl="1" indent="-280669" algn="l">
              <a:lnSpc>
                <a:spcPts val="4653"/>
              </a:lnSpc>
              <a:buFont typeface="Arial"/>
              <a:buChar char="•"/>
            </a:pPr>
            <a:r>
              <a:rPr lang="en-US" sz="2599">
                <a:solidFill>
                  <a:srgbClr val="1A3A6B"/>
                </a:solidFill>
                <a:latin typeface="Calibri (MS)"/>
                <a:ea typeface="Calibri (MS)"/>
                <a:cs typeface="Calibri (MS)"/>
                <a:sym typeface="Calibri (MS)"/>
              </a:rPr>
              <a:t>Initial Position, P0(900. -600)m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3559" y="4598695"/>
            <a:ext cx="9163666" cy="197153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23559" y="5240138"/>
            <a:ext cx="9163666" cy="19512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— Circular Path, Circular Obstacle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245870" y="2319874"/>
            <a:ext cx="11796260" cy="7387408"/>
          </a:xfrm>
          <a:custGeom>
            <a:avLst/>
            <a:gdLst/>
            <a:ahLst/>
            <a:cxnLst/>
            <a:rect l="l" t="t" r="r" b="b"/>
            <a:pathLst>
              <a:path w="11796260" h="7387408">
                <a:moveTo>
                  <a:pt x="0" y="0"/>
                </a:moveTo>
                <a:lnTo>
                  <a:pt x="11796260" y="0"/>
                </a:lnTo>
                <a:lnTo>
                  <a:pt x="11796260" y="7387408"/>
                </a:lnTo>
                <a:lnTo>
                  <a:pt x="0" y="7387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— Circular Path, Circular Obstacle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316736"/>
            <a:ext cx="17007840" cy="548640"/>
            <a:chOff x="0" y="0"/>
            <a:chExt cx="2267712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26771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II: Obstacle intersects the desired path</a:t>
              </a:r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7576" y="1053846"/>
            <a:ext cx="9738360" cy="2073605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640080" y="2547783"/>
            <a:ext cx="17007840" cy="548640"/>
            <a:chOff x="0" y="0"/>
            <a:chExt cx="2267712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26771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 P0(400, -600)m.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387146" y="3648873"/>
            <a:ext cx="8716007" cy="5480190"/>
          </a:xfrm>
          <a:custGeom>
            <a:avLst/>
            <a:gdLst/>
            <a:ahLst/>
            <a:cxnLst/>
            <a:rect l="l" t="t" r="r" b="b"/>
            <a:pathLst>
              <a:path w="8716007" h="5480190">
                <a:moveTo>
                  <a:pt x="0" y="0"/>
                </a:moveTo>
                <a:lnTo>
                  <a:pt x="8716008" y="0"/>
                </a:lnTo>
                <a:lnTo>
                  <a:pt x="8716008" y="5480190"/>
                </a:lnTo>
                <a:lnTo>
                  <a:pt x="0" y="54801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445252" y="3782223"/>
            <a:ext cx="8408211" cy="5265642"/>
          </a:xfrm>
          <a:custGeom>
            <a:avLst/>
            <a:gdLst/>
            <a:ahLst/>
            <a:cxnLst/>
            <a:rect l="l" t="t" r="r" b="b"/>
            <a:pathLst>
              <a:path w="8408211" h="5265642">
                <a:moveTo>
                  <a:pt x="0" y="0"/>
                </a:moveTo>
                <a:lnTo>
                  <a:pt x="8408210" y="0"/>
                </a:lnTo>
                <a:lnTo>
                  <a:pt x="8408210" y="5265642"/>
                </a:lnTo>
                <a:lnTo>
                  <a:pt x="0" y="52656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— Circular Path, Circular Obstacle</a:t>
              </a:r>
            </a:p>
          </p:txBody>
        </p:sp>
      </p:grpSp>
      <p:pic>
        <p:nvPicPr>
          <p:cNvPr id="8" name="Picture 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530" r="530"/>
          <a:stretch>
            <a:fillRect/>
          </a:stretch>
        </p:blipFill>
        <p:spPr>
          <a:xfrm>
            <a:off x="2330930" y="1686702"/>
            <a:ext cx="14188966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— Circular Path, Circular Obstacle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316736"/>
            <a:ext cx="17007840" cy="548640"/>
            <a:chOff x="0" y="0"/>
            <a:chExt cx="2267712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26771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III: Obstacle is completely inside the desired path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2547783"/>
            <a:ext cx="17007840" cy="548640"/>
            <a:chOff x="0" y="0"/>
            <a:chExt cx="2267712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26771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with P0(100, 0)m.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434534" y="3782223"/>
            <a:ext cx="8457550" cy="5317684"/>
          </a:xfrm>
          <a:custGeom>
            <a:avLst/>
            <a:gdLst/>
            <a:ahLst/>
            <a:cxnLst/>
            <a:rect l="l" t="t" r="r" b="b"/>
            <a:pathLst>
              <a:path w="8457550" h="5317684">
                <a:moveTo>
                  <a:pt x="0" y="0"/>
                </a:moveTo>
                <a:lnTo>
                  <a:pt x="8457549" y="0"/>
                </a:lnTo>
                <a:lnTo>
                  <a:pt x="8457549" y="5317684"/>
                </a:lnTo>
                <a:lnTo>
                  <a:pt x="0" y="531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110" y="1219192"/>
            <a:ext cx="9545573" cy="2124056"/>
          </a:xfrm>
          <a:prstGeom prst="rect">
            <a:avLst/>
          </a:prstGeom>
        </p:spPr>
      </p:pic>
      <p:sp>
        <p:nvSpPr>
          <p:cNvPr id="16" name="Freeform 16"/>
          <p:cNvSpPr/>
          <p:nvPr/>
        </p:nvSpPr>
        <p:spPr>
          <a:xfrm>
            <a:off x="9362974" y="3791748"/>
            <a:ext cx="8476103" cy="5308159"/>
          </a:xfrm>
          <a:custGeom>
            <a:avLst/>
            <a:gdLst/>
            <a:ahLst/>
            <a:cxnLst/>
            <a:rect l="l" t="t" r="r" b="b"/>
            <a:pathLst>
              <a:path w="8476103" h="5308159">
                <a:moveTo>
                  <a:pt x="0" y="0"/>
                </a:moveTo>
                <a:lnTo>
                  <a:pt x="8476103" y="0"/>
                </a:lnTo>
                <a:lnTo>
                  <a:pt x="8476103" y="5308159"/>
                </a:lnTo>
                <a:lnTo>
                  <a:pt x="0" y="5308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— Arbitrary Closed Path, Arbitrary Obstacle</a:t>
              </a: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054" y="1491608"/>
            <a:ext cx="9675893" cy="6883695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1028700" y="8349072"/>
            <a:ext cx="15809665" cy="909228"/>
            <a:chOff x="0" y="0"/>
            <a:chExt cx="21079553" cy="12123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079552" cy="1212304"/>
            </a:xfrm>
            <a:custGeom>
              <a:avLst/>
              <a:gdLst/>
              <a:ahLst/>
              <a:cxnLst/>
              <a:rect l="l" t="t" r="r" b="b"/>
              <a:pathLst>
                <a:path w="21079552" h="1212304">
                  <a:moveTo>
                    <a:pt x="0" y="0"/>
                  </a:moveTo>
                  <a:lnTo>
                    <a:pt x="21079552" y="0"/>
                  </a:lnTo>
                  <a:lnTo>
                    <a:pt x="21079552" y="1212304"/>
                  </a:lnTo>
                  <a:lnTo>
                    <a:pt x="0" y="1212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4312" r="-7578" b="-29465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1079553" cy="12694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Where, k = 400 and centered around (0, 0) and κ = 20 and κobs = 0.8, with all other parameters same as in circle-circle case.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1749292"/>
            <a:ext cx="6753546" cy="548640"/>
            <a:chOff x="0" y="0"/>
            <a:chExt cx="9004728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04728" cy="731520"/>
            </a:xfrm>
            <a:custGeom>
              <a:avLst/>
              <a:gdLst/>
              <a:ahLst/>
              <a:cxnLst/>
              <a:rect l="l" t="t" r="r" b="b"/>
              <a:pathLst>
                <a:path w="9004728" h="731520">
                  <a:moveTo>
                    <a:pt x="0" y="0"/>
                  </a:moveTo>
                  <a:lnTo>
                    <a:pt x="9004728" y="0"/>
                  </a:lnTo>
                  <a:lnTo>
                    <a:pt x="9004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r="-151835" b="-55403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9004728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desired arbitrary closed path is given as, 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— Arbitrary Closed Path, Arbitrary Obstacle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500895"/>
            <a:ext cx="17007840" cy="548640"/>
            <a:chOff x="0" y="0"/>
            <a:chExt cx="2267712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26771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I: Obstacle is completely outside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2049535"/>
            <a:ext cx="17007840" cy="548640"/>
            <a:chOff x="0" y="0"/>
            <a:chExt cx="2267712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26771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obstacle can be given as</a:t>
              </a:r>
            </a:p>
          </p:txBody>
        </p:sp>
      </p:grp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784" y="1539701"/>
            <a:ext cx="12701687" cy="7858678"/>
          </a:xfrm>
          <a:prstGeom prst="rect">
            <a:avLst/>
          </a:prstGeom>
        </p:spPr>
      </p:pic>
      <p:grpSp>
        <p:nvGrpSpPr>
          <p:cNvPr id="15" name="Group 15"/>
          <p:cNvGrpSpPr/>
          <p:nvPr/>
        </p:nvGrpSpPr>
        <p:grpSpPr>
          <a:xfrm>
            <a:off x="1028700" y="8511356"/>
            <a:ext cx="17007840" cy="548640"/>
            <a:chOff x="0" y="0"/>
            <a:chExt cx="2267712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26771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where k = 100 and o = [700, −500], with initial position of the UAV as P0(1000,−700)m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— Arbitrary Closed Path, Arbitrary Obstacle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24378" y="3153730"/>
            <a:ext cx="8503925" cy="5346843"/>
          </a:xfrm>
          <a:custGeom>
            <a:avLst/>
            <a:gdLst/>
            <a:ahLst/>
            <a:cxnLst/>
            <a:rect l="l" t="t" r="r" b="b"/>
            <a:pathLst>
              <a:path w="8503925" h="5346843">
                <a:moveTo>
                  <a:pt x="0" y="0"/>
                </a:moveTo>
                <a:lnTo>
                  <a:pt x="8503925" y="0"/>
                </a:lnTo>
                <a:lnTo>
                  <a:pt x="8503925" y="5346843"/>
                </a:lnTo>
                <a:lnTo>
                  <a:pt x="0" y="5346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406818" y="3153730"/>
            <a:ext cx="8548077" cy="5225012"/>
          </a:xfrm>
          <a:custGeom>
            <a:avLst/>
            <a:gdLst/>
            <a:ahLst/>
            <a:cxnLst/>
            <a:rect l="l" t="t" r="r" b="b"/>
            <a:pathLst>
              <a:path w="8548077" h="5225012">
                <a:moveTo>
                  <a:pt x="0" y="0"/>
                </a:moveTo>
                <a:lnTo>
                  <a:pt x="8548077" y="0"/>
                </a:lnTo>
                <a:lnTo>
                  <a:pt x="8548077" y="5225012"/>
                </a:lnTo>
                <a:lnTo>
                  <a:pt x="0" y="522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— Arbitrary Closed Path, Arbitrary Obstacle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1500895"/>
            <a:ext cx="17007840" cy="548640"/>
            <a:chOff x="0" y="0"/>
            <a:chExt cx="2267712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26771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II: Obstacle intersects the desired path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2049535"/>
            <a:ext cx="17007840" cy="548640"/>
            <a:chOff x="0" y="0"/>
            <a:chExt cx="2267712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26771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obstacle can be given given by the same equation as in Case I, where k = 100 and o = [300, -300]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" y="2598175"/>
            <a:ext cx="17007840" cy="548640"/>
            <a:chOff x="0" y="0"/>
            <a:chExt cx="2267712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26771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Initial position of the UAV as P0(600,−400)m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9532093" y="3870715"/>
            <a:ext cx="8478126" cy="5182254"/>
          </a:xfrm>
          <a:custGeom>
            <a:avLst/>
            <a:gdLst/>
            <a:ahLst/>
            <a:cxnLst/>
            <a:rect l="l" t="t" r="r" b="b"/>
            <a:pathLst>
              <a:path w="8478126" h="5182254">
                <a:moveTo>
                  <a:pt x="0" y="0"/>
                </a:moveTo>
                <a:lnTo>
                  <a:pt x="8478126" y="0"/>
                </a:lnTo>
                <a:lnTo>
                  <a:pt x="8478126" y="5182255"/>
                </a:lnTo>
                <a:lnTo>
                  <a:pt x="0" y="51822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460279" y="3870715"/>
            <a:ext cx="8411038" cy="5288440"/>
          </a:xfrm>
          <a:custGeom>
            <a:avLst/>
            <a:gdLst/>
            <a:ahLst/>
            <a:cxnLst/>
            <a:rect l="l" t="t" r="r" b="b"/>
            <a:pathLst>
              <a:path w="8411038" h="5288440">
                <a:moveTo>
                  <a:pt x="0" y="0"/>
                </a:moveTo>
                <a:lnTo>
                  <a:pt x="8411037" y="0"/>
                </a:lnTo>
                <a:lnTo>
                  <a:pt x="8411037" y="5288440"/>
                </a:lnTo>
                <a:lnTo>
                  <a:pt x="0" y="52884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— Arbitrary Closed Path, Arbitrary Obstacle</a:t>
              </a:r>
            </a:p>
          </p:txBody>
        </p:sp>
      </p:grpSp>
      <p:pic>
        <p:nvPicPr>
          <p:cNvPr id="8" name="Picture 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530" r="530"/>
          <a:stretch>
            <a:fillRect/>
          </a:stretch>
        </p:blipFill>
        <p:spPr>
          <a:xfrm>
            <a:off x="2049522" y="1686702"/>
            <a:ext cx="14188966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— Arbitrary Closed Path, Arbitrary Obstacle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30555" y="1500895"/>
            <a:ext cx="17007840" cy="548640"/>
            <a:chOff x="0" y="0"/>
            <a:chExt cx="22677120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26771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 b="1">
                  <a:solidFill>
                    <a:srgbClr val="47556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Case III: Obstacle is completely inside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2049535"/>
            <a:ext cx="17007840" cy="548640"/>
            <a:chOff x="0" y="0"/>
            <a:chExt cx="22677120" cy="7315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26771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obstacle can be given given by the same equation as in Case I, where k = 100 and o = [0, -150]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40080" y="2598175"/>
            <a:ext cx="17007840" cy="548640"/>
            <a:chOff x="0" y="0"/>
            <a:chExt cx="22677120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677120" cy="731520"/>
            </a:xfrm>
            <a:custGeom>
              <a:avLst/>
              <a:gdLst/>
              <a:ahLst/>
              <a:cxnLst/>
              <a:rect l="l" t="t" r="r" b="b"/>
              <a:pathLst>
                <a:path w="22677120" h="731520">
                  <a:moveTo>
                    <a:pt x="0" y="0"/>
                  </a:moveTo>
                  <a:lnTo>
                    <a:pt x="22677120" y="0"/>
                  </a:lnTo>
                  <a:lnTo>
                    <a:pt x="2267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b="-55403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2677120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Initial position of the UAV as P0(0, 0)m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461351" y="3870715"/>
            <a:ext cx="8276120" cy="5203611"/>
          </a:xfrm>
          <a:custGeom>
            <a:avLst/>
            <a:gdLst/>
            <a:ahLst/>
            <a:cxnLst/>
            <a:rect l="l" t="t" r="r" b="b"/>
            <a:pathLst>
              <a:path w="8276120" h="5203611">
                <a:moveTo>
                  <a:pt x="0" y="0"/>
                </a:moveTo>
                <a:lnTo>
                  <a:pt x="8276121" y="0"/>
                </a:lnTo>
                <a:lnTo>
                  <a:pt x="8276121" y="5203611"/>
                </a:lnTo>
                <a:lnTo>
                  <a:pt x="0" y="52036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332629" y="3870715"/>
            <a:ext cx="8568850" cy="5237710"/>
          </a:xfrm>
          <a:custGeom>
            <a:avLst/>
            <a:gdLst/>
            <a:ahLst/>
            <a:cxnLst/>
            <a:rect l="l" t="t" r="r" b="b"/>
            <a:pathLst>
              <a:path w="8568850" h="5237710">
                <a:moveTo>
                  <a:pt x="0" y="0"/>
                </a:moveTo>
                <a:lnTo>
                  <a:pt x="8568851" y="0"/>
                </a:lnTo>
                <a:lnTo>
                  <a:pt x="8568851" y="5237710"/>
                </a:lnTo>
                <a:lnTo>
                  <a:pt x="0" y="5237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— Sine Path with Arbitrary Closed Obstacle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749292"/>
            <a:ext cx="6753546" cy="548640"/>
            <a:chOff x="0" y="0"/>
            <a:chExt cx="9004728" cy="7315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004728" cy="731520"/>
            </a:xfrm>
            <a:custGeom>
              <a:avLst/>
              <a:gdLst/>
              <a:ahLst/>
              <a:cxnLst/>
              <a:rect l="l" t="t" r="r" b="b"/>
              <a:pathLst>
                <a:path w="9004728" h="731520">
                  <a:moveTo>
                    <a:pt x="0" y="0"/>
                  </a:moveTo>
                  <a:lnTo>
                    <a:pt x="9004728" y="0"/>
                  </a:lnTo>
                  <a:lnTo>
                    <a:pt x="900472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54036" r="-151835" b="-55403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9004728" cy="788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desired arbitrary closed path is given as, </a:t>
              </a:r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578" y="1094767"/>
            <a:ext cx="6913628" cy="1857690"/>
          </a:xfrm>
          <a:prstGeom prst="rect">
            <a:avLst/>
          </a:prstGeom>
        </p:spPr>
      </p:pic>
      <p:grpSp>
        <p:nvGrpSpPr>
          <p:cNvPr id="12" name="Group 12"/>
          <p:cNvGrpSpPr/>
          <p:nvPr/>
        </p:nvGrpSpPr>
        <p:grpSpPr>
          <a:xfrm>
            <a:off x="1028700" y="2454711"/>
            <a:ext cx="16230600" cy="909228"/>
            <a:chOff x="0" y="0"/>
            <a:chExt cx="21640800" cy="12123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640800" cy="1212304"/>
            </a:xfrm>
            <a:custGeom>
              <a:avLst/>
              <a:gdLst/>
              <a:ahLst/>
              <a:cxnLst/>
              <a:rect l="l" t="t" r="r" b="b"/>
              <a:pathLst>
                <a:path w="21640800" h="1212304">
                  <a:moveTo>
                    <a:pt x="0" y="0"/>
                  </a:moveTo>
                  <a:lnTo>
                    <a:pt x="21640800" y="0"/>
                  </a:lnTo>
                  <a:lnTo>
                    <a:pt x="21640800" y="1212304"/>
                  </a:lnTo>
                  <a:lnTo>
                    <a:pt x="0" y="12123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4312" r="-4788" b="-294653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1640800" cy="12694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and the obstacle can be given given by the same equation as given in Aribraty-Arbotray simulations , with k = 100 and </a:t>
              </a:r>
            </a:p>
            <a:p>
              <a:pPr algn="l">
                <a:lnSpc>
                  <a:spcPts val="3119"/>
                </a:lnSpc>
              </a:pPr>
              <a:r>
                <a:rPr lang="en-US" sz="2599">
                  <a:solidFill>
                    <a:srgbClr val="47556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 = [500, -0], κ = 20 and κobs = 0.8, with all other parameters same as in circle-circle case.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640080" y="3926727"/>
            <a:ext cx="8202420" cy="5331573"/>
          </a:xfrm>
          <a:custGeom>
            <a:avLst/>
            <a:gdLst/>
            <a:ahLst/>
            <a:cxnLst/>
            <a:rect l="l" t="t" r="r" b="b"/>
            <a:pathLst>
              <a:path w="8202420" h="5331573">
                <a:moveTo>
                  <a:pt x="0" y="0"/>
                </a:moveTo>
                <a:lnTo>
                  <a:pt x="8202420" y="0"/>
                </a:lnTo>
                <a:lnTo>
                  <a:pt x="8202420" y="5331573"/>
                </a:lnTo>
                <a:lnTo>
                  <a:pt x="0" y="53315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144000" y="4102404"/>
            <a:ext cx="8435004" cy="5155896"/>
          </a:xfrm>
          <a:custGeom>
            <a:avLst/>
            <a:gdLst/>
            <a:ahLst/>
            <a:cxnLst/>
            <a:rect l="l" t="t" r="r" b="b"/>
            <a:pathLst>
              <a:path w="8435004" h="5155896">
                <a:moveTo>
                  <a:pt x="0" y="0"/>
                </a:moveTo>
                <a:lnTo>
                  <a:pt x="8435004" y="0"/>
                </a:lnTo>
                <a:lnTo>
                  <a:pt x="8435004" y="5155896"/>
                </a:lnTo>
                <a:lnTo>
                  <a:pt x="0" y="51558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— Sine Path with Arbitrary Closed Obstacle</a:t>
              </a:r>
            </a:p>
          </p:txBody>
        </p:sp>
      </p:grpSp>
      <p:pic>
        <p:nvPicPr>
          <p:cNvPr id="8" name="Picture 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1973408" y="1791936"/>
            <a:ext cx="14341194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Limitations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7383" y="1596647"/>
            <a:ext cx="8255003" cy="2713739"/>
            <a:chOff x="0" y="0"/>
            <a:chExt cx="11006671" cy="3618319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10972800" cy="3584448"/>
            </a:xfrm>
            <a:custGeom>
              <a:avLst/>
              <a:gdLst/>
              <a:ahLst/>
              <a:cxnLst/>
              <a:rect l="l" t="t" r="r" b="b"/>
              <a:pathLst>
                <a:path w="10972800" h="3584448">
                  <a:moveTo>
                    <a:pt x="0" y="0"/>
                  </a:moveTo>
                  <a:lnTo>
                    <a:pt x="10972800" y="0"/>
                  </a:lnTo>
                  <a:lnTo>
                    <a:pt x="10972800" y="3584448"/>
                  </a:lnTo>
                  <a:lnTo>
                    <a:pt x="0" y="35844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11006582" cy="3618230"/>
            </a:xfrm>
            <a:custGeom>
              <a:avLst/>
              <a:gdLst/>
              <a:ahLst/>
              <a:cxnLst/>
              <a:rect l="l" t="t" r="r" b="b"/>
              <a:pathLst>
                <a:path w="11006582" h="361823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601339"/>
                  </a:lnTo>
                  <a:cubicBezTo>
                    <a:pt x="11006582" y="3610737"/>
                    <a:pt x="10998962" y="3618230"/>
                    <a:pt x="10989691" y="3618230"/>
                  </a:cubicBezTo>
                  <a:lnTo>
                    <a:pt x="16891" y="3618230"/>
                  </a:lnTo>
                  <a:cubicBezTo>
                    <a:pt x="7493" y="3618230"/>
                    <a:pt x="0" y="3610610"/>
                    <a:pt x="0" y="3601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01339"/>
                  </a:lnTo>
                  <a:lnTo>
                    <a:pt x="16891" y="3601339"/>
                  </a:lnTo>
                  <a:lnTo>
                    <a:pt x="16891" y="3584448"/>
                  </a:lnTo>
                  <a:lnTo>
                    <a:pt x="10989691" y="3584448"/>
                  </a:lnTo>
                  <a:lnTo>
                    <a:pt x="10989691" y="3601339"/>
                  </a:lnTo>
                  <a:lnTo>
                    <a:pt x="10972800" y="360133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627383" y="1596647"/>
            <a:ext cx="939803" cy="2713739"/>
            <a:chOff x="0" y="0"/>
            <a:chExt cx="1253071" cy="3618319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1219200" cy="3584448"/>
            </a:xfrm>
            <a:custGeom>
              <a:avLst/>
              <a:gdLst/>
              <a:ahLst/>
              <a:cxnLst/>
              <a:rect l="l" t="t" r="r" b="b"/>
              <a:pathLst>
                <a:path w="1219200" h="3584448">
                  <a:moveTo>
                    <a:pt x="0" y="0"/>
                  </a:moveTo>
                  <a:lnTo>
                    <a:pt x="1219200" y="0"/>
                  </a:lnTo>
                  <a:lnTo>
                    <a:pt x="1219200" y="3584448"/>
                  </a:lnTo>
                  <a:lnTo>
                    <a:pt x="0" y="3584448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252982" cy="3618230"/>
            </a:xfrm>
            <a:custGeom>
              <a:avLst/>
              <a:gdLst/>
              <a:ahLst/>
              <a:cxnLst/>
              <a:rect l="l" t="t" r="r" b="b"/>
              <a:pathLst>
                <a:path w="1252982" h="361823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3601339"/>
                  </a:lnTo>
                  <a:cubicBezTo>
                    <a:pt x="1252982" y="3610737"/>
                    <a:pt x="1245362" y="3618230"/>
                    <a:pt x="1236091" y="3618230"/>
                  </a:cubicBezTo>
                  <a:lnTo>
                    <a:pt x="16891" y="3618230"/>
                  </a:lnTo>
                  <a:cubicBezTo>
                    <a:pt x="7493" y="3618230"/>
                    <a:pt x="0" y="3610610"/>
                    <a:pt x="0" y="3601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01339"/>
                  </a:lnTo>
                  <a:lnTo>
                    <a:pt x="16891" y="3601339"/>
                  </a:lnTo>
                  <a:lnTo>
                    <a:pt x="16891" y="3584448"/>
                  </a:lnTo>
                  <a:lnTo>
                    <a:pt x="1236091" y="3584448"/>
                  </a:lnTo>
                  <a:lnTo>
                    <a:pt x="1236091" y="3601339"/>
                  </a:lnTo>
                  <a:lnTo>
                    <a:pt x="1219200" y="3601339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40080" y="1609344"/>
            <a:ext cx="914400" cy="2688336"/>
            <a:chOff x="0" y="0"/>
            <a:chExt cx="1219200" cy="35844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3584448"/>
            </a:xfrm>
            <a:custGeom>
              <a:avLst/>
              <a:gdLst/>
              <a:ahLst/>
              <a:cxnLst/>
              <a:rect l="l" t="t" r="r" b="b"/>
              <a:pathLst>
                <a:path w="1219200" h="3584448">
                  <a:moveTo>
                    <a:pt x="0" y="0"/>
                  </a:moveTo>
                  <a:lnTo>
                    <a:pt x="1219200" y="0"/>
                  </a:lnTo>
                  <a:lnTo>
                    <a:pt x="1219200" y="3584448"/>
                  </a:lnTo>
                  <a:lnTo>
                    <a:pt x="0" y="3584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7212" r="-327212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219200" cy="3632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37360" y="1755648"/>
            <a:ext cx="6858000" cy="640080"/>
            <a:chOff x="0" y="0"/>
            <a:chExt cx="9144000" cy="853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44000" cy="853440"/>
            </a:xfrm>
            <a:custGeom>
              <a:avLst/>
              <a:gdLst/>
              <a:ahLst/>
              <a:cxnLst/>
              <a:rect l="l" t="t" r="r" b="b"/>
              <a:pathLst>
                <a:path w="9144000" h="85344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91440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Parameter Sensitivity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37360" y="2432304"/>
            <a:ext cx="6858000" cy="1645920"/>
            <a:chOff x="0" y="0"/>
            <a:chExt cx="9144000" cy="21945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0" cy="2194560"/>
            </a:xfrm>
            <a:custGeom>
              <a:avLst/>
              <a:gdLst/>
              <a:ahLst/>
              <a:cxnLst/>
              <a:rect l="l" t="t" r="r" b="b"/>
              <a:pathLst>
                <a:path w="9144000" h="2194560">
                  <a:moveTo>
                    <a:pt x="0" y="0"/>
                  </a:moveTo>
                  <a:lnTo>
                    <a:pt x="9144000" y="0"/>
                  </a:lnTo>
                  <a:lnTo>
                    <a:pt x="9144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87" b="-3118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9144000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universal κ or κobs across path/obstacle geometries. Each new curve requires re-tuning of design parameters.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7383" y="4486151"/>
            <a:ext cx="8255003" cy="2713739"/>
            <a:chOff x="0" y="0"/>
            <a:chExt cx="11006671" cy="3618319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10972800" cy="3584448"/>
            </a:xfrm>
            <a:custGeom>
              <a:avLst/>
              <a:gdLst/>
              <a:ahLst/>
              <a:cxnLst/>
              <a:rect l="l" t="t" r="r" b="b"/>
              <a:pathLst>
                <a:path w="10972800" h="3584448">
                  <a:moveTo>
                    <a:pt x="0" y="0"/>
                  </a:moveTo>
                  <a:lnTo>
                    <a:pt x="10972800" y="0"/>
                  </a:lnTo>
                  <a:lnTo>
                    <a:pt x="10972800" y="3584448"/>
                  </a:lnTo>
                  <a:lnTo>
                    <a:pt x="0" y="35844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1006582" cy="3618230"/>
            </a:xfrm>
            <a:custGeom>
              <a:avLst/>
              <a:gdLst/>
              <a:ahLst/>
              <a:cxnLst/>
              <a:rect l="l" t="t" r="r" b="b"/>
              <a:pathLst>
                <a:path w="11006582" h="361823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601339"/>
                  </a:lnTo>
                  <a:cubicBezTo>
                    <a:pt x="11006582" y="3610737"/>
                    <a:pt x="10998962" y="3618230"/>
                    <a:pt x="10989691" y="3618230"/>
                  </a:cubicBezTo>
                  <a:lnTo>
                    <a:pt x="16891" y="3618230"/>
                  </a:lnTo>
                  <a:cubicBezTo>
                    <a:pt x="7493" y="3618230"/>
                    <a:pt x="0" y="3610610"/>
                    <a:pt x="0" y="3601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01339"/>
                  </a:lnTo>
                  <a:lnTo>
                    <a:pt x="16891" y="3601339"/>
                  </a:lnTo>
                  <a:lnTo>
                    <a:pt x="16891" y="3584448"/>
                  </a:lnTo>
                  <a:lnTo>
                    <a:pt x="10989691" y="3584448"/>
                  </a:lnTo>
                  <a:lnTo>
                    <a:pt x="10989691" y="3601339"/>
                  </a:lnTo>
                  <a:lnTo>
                    <a:pt x="10972800" y="360133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627383" y="4486151"/>
            <a:ext cx="939803" cy="2713739"/>
            <a:chOff x="0" y="0"/>
            <a:chExt cx="1253071" cy="3618319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1219200" cy="3584448"/>
            </a:xfrm>
            <a:custGeom>
              <a:avLst/>
              <a:gdLst/>
              <a:ahLst/>
              <a:cxnLst/>
              <a:rect l="l" t="t" r="r" b="b"/>
              <a:pathLst>
                <a:path w="1219200" h="3584448">
                  <a:moveTo>
                    <a:pt x="0" y="0"/>
                  </a:moveTo>
                  <a:lnTo>
                    <a:pt x="1219200" y="0"/>
                  </a:lnTo>
                  <a:lnTo>
                    <a:pt x="1219200" y="3584448"/>
                  </a:lnTo>
                  <a:lnTo>
                    <a:pt x="0" y="3584448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1252982" cy="3618230"/>
            </a:xfrm>
            <a:custGeom>
              <a:avLst/>
              <a:gdLst/>
              <a:ahLst/>
              <a:cxnLst/>
              <a:rect l="l" t="t" r="r" b="b"/>
              <a:pathLst>
                <a:path w="1252982" h="361823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3601339"/>
                  </a:lnTo>
                  <a:cubicBezTo>
                    <a:pt x="1252982" y="3610737"/>
                    <a:pt x="1245362" y="3618230"/>
                    <a:pt x="1236091" y="3618230"/>
                  </a:cubicBezTo>
                  <a:lnTo>
                    <a:pt x="16891" y="3618230"/>
                  </a:lnTo>
                  <a:cubicBezTo>
                    <a:pt x="7493" y="3618230"/>
                    <a:pt x="0" y="3610610"/>
                    <a:pt x="0" y="3601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01339"/>
                  </a:lnTo>
                  <a:lnTo>
                    <a:pt x="16891" y="3601339"/>
                  </a:lnTo>
                  <a:lnTo>
                    <a:pt x="16891" y="3584448"/>
                  </a:lnTo>
                  <a:lnTo>
                    <a:pt x="1236091" y="3584448"/>
                  </a:lnTo>
                  <a:lnTo>
                    <a:pt x="1236091" y="3601339"/>
                  </a:lnTo>
                  <a:lnTo>
                    <a:pt x="1219200" y="3601339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40080" y="4498848"/>
            <a:ext cx="914400" cy="2688336"/>
            <a:chOff x="0" y="0"/>
            <a:chExt cx="1219200" cy="35844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19200" cy="3584448"/>
            </a:xfrm>
            <a:custGeom>
              <a:avLst/>
              <a:gdLst/>
              <a:ahLst/>
              <a:cxnLst/>
              <a:rect l="l" t="t" r="r" b="b"/>
              <a:pathLst>
                <a:path w="1219200" h="3584448">
                  <a:moveTo>
                    <a:pt x="0" y="0"/>
                  </a:moveTo>
                  <a:lnTo>
                    <a:pt x="1219200" y="0"/>
                  </a:lnTo>
                  <a:lnTo>
                    <a:pt x="1219200" y="3584448"/>
                  </a:lnTo>
                  <a:lnTo>
                    <a:pt x="0" y="3584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7212" r="-32721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219200" cy="3632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37360" y="4645152"/>
            <a:ext cx="6858000" cy="640080"/>
            <a:chOff x="0" y="0"/>
            <a:chExt cx="9144000" cy="85344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144000" cy="853440"/>
            </a:xfrm>
            <a:custGeom>
              <a:avLst/>
              <a:gdLst/>
              <a:ahLst/>
              <a:cxnLst/>
              <a:rect l="l" t="t" r="r" b="b"/>
              <a:pathLst>
                <a:path w="9144000" h="85344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91440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Angle Wrapping Fragility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737360" y="5321808"/>
            <a:ext cx="6858000" cy="1645920"/>
            <a:chOff x="0" y="0"/>
            <a:chExt cx="9144000" cy="219456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0" cy="2194560"/>
            </a:xfrm>
            <a:custGeom>
              <a:avLst/>
              <a:gdLst/>
              <a:ahLst/>
              <a:cxnLst/>
              <a:rect l="l" t="t" r="r" b="b"/>
              <a:pathLst>
                <a:path w="9144000" h="2194560">
                  <a:moveTo>
                    <a:pt x="0" y="0"/>
                  </a:moveTo>
                  <a:lnTo>
                    <a:pt x="9144000" y="0"/>
                  </a:lnTo>
                  <a:lnTo>
                    <a:pt x="9144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87" b="-31187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9144000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Bifurcation at ζ may fail for complex geometries with multiple bifurcations points, creating loops or premature stable equilibria.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7383" y="7375655"/>
            <a:ext cx="8255003" cy="2713739"/>
            <a:chOff x="0" y="0"/>
            <a:chExt cx="11006671" cy="3618319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10972800" cy="3584448"/>
            </a:xfrm>
            <a:custGeom>
              <a:avLst/>
              <a:gdLst/>
              <a:ahLst/>
              <a:cxnLst/>
              <a:rect l="l" t="t" r="r" b="b"/>
              <a:pathLst>
                <a:path w="10972800" h="3584448">
                  <a:moveTo>
                    <a:pt x="0" y="0"/>
                  </a:moveTo>
                  <a:lnTo>
                    <a:pt x="10972800" y="0"/>
                  </a:lnTo>
                  <a:lnTo>
                    <a:pt x="10972800" y="3584448"/>
                  </a:lnTo>
                  <a:lnTo>
                    <a:pt x="0" y="35844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11006582" cy="3618230"/>
            </a:xfrm>
            <a:custGeom>
              <a:avLst/>
              <a:gdLst/>
              <a:ahLst/>
              <a:cxnLst/>
              <a:rect l="l" t="t" r="r" b="b"/>
              <a:pathLst>
                <a:path w="11006582" h="361823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601339"/>
                  </a:lnTo>
                  <a:cubicBezTo>
                    <a:pt x="11006582" y="3610737"/>
                    <a:pt x="10998962" y="3618230"/>
                    <a:pt x="10989691" y="3618230"/>
                  </a:cubicBezTo>
                  <a:lnTo>
                    <a:pt x="16891" y="3618230"/>
                  </a:lnTo>
                  <a:cubicBezTo>
                    <a:pt x="7493" y="3618230"/>
                    <a:pt x="0" y="3610610"/>
                    <a:pt x="0" y="3601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01339"/>
                  </a:lnTo>
                  <a:lnTo>
                    <a:pt x="16891" y="3601339"/>
                  </a:lnTo>
                  <a:lnTo>
                    <a:pt x="16891" y="3584448"/>
                  </a:lnTo>
                  <a:lnTo>
                    <a:pt x="10989691" y="3584448"/>
                  </a:lnTo>
                  <a:lnTo>
                    <a:pt x="10989691" y="3601339"/>
                  </a:lnTo>
                  <a:lnTo>
                    <a:pt x="10972800" y="360133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27383" y="7375655"/>
            <a:ext cx="939803" cy="2713739"/>
            <a:chOff x="0" y="0"/>
            <a:chExt cx="1253071" cy="3618319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1219200" cy="3584448"/>
            </a:xfrm>
            <a:custGeom>
              <a:avLst/>
              <a:gdLst/>
              <a:ahLst/>
              <a:cxnLst/>
              <a:rect l="l" t="t" r="r" b="b"/>
              <a:pathLst>
                <a:path w="1219200" h="3584448">
                  <a:moveTo>
                    <a:pt x="0" y="0"/>
                  </a:moveTo>
                  <a:lnTo>
                    <a:pt x="1219200" y="0"/>
                  </a:lnTo>
                  <a:lnTo>
                    <a:pt x="1219200" y="3584448"/>
                  </a:lnTo>
                  <a:lnTo>
                    <a:pt x="0" y="3584448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1252982" cy="3618230"/>
            </a:xfrm>
            <a:custGeom>
              <a:avLst/>
              <a:gdLst/>
              <a:ahLst/>
              <a:cxnLst/>
              <a:rect l="l" t="t" r="r" b="b"/>
              <a:pathLst>
                <a:path w="1252982" h="361823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3601339"/>
                  </a:lnTo>
                  <a:cubicBezTo>
                    <a:pt x="1252982" y="3610737"/>
                    <a:pt x="1245362" y="3618230"/>
                    <a:pt x="1236091" y="3618230"/>
                  </a:cubicBezTo>
                  <a:lnTo>
                    <a:pt x="16891" y="3618230"/>
                  </a:lnTo>
                  <a:cubicBezTo>
                    <a:pt x="7493" y="3618230"/>
                    <a:pt x="0" y="3610610"/>
                    <a:pt x="0" y="3601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01339"/>
                  </a:lnTo>
                  <a:lnTo>
                    <a:pt x="16891" y="3601339"/>
                  </a:lnTo>
                  <a:lnTo>
                    <a:pt x="16891" y="3584448"/>
                  </a:lnTo>
                  <a:lnTo>
                    <a:pt x="1236091" y="3584448"/>
                  </a:lnTo>
                  <a:lnTo>
                    <a:pt x="1236091" y="3601339"/>
                  </a:lnTo>
                  <a:lnTo>
                    <a:pt x="1219200" y="3601339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640080" y="7388352"/>
            <a:ext cx="914400" cy="2688336"/>
            <a:chOff x="0" y="0"/>
            <a:chExt cx="1219200" cy="358444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00" cy="3584448"/>
            </a:xfrm>
            <a:custGeom>
              <a:avLst/>
              <a:gdLst/>
              <a:ahLst/>
              <a:cxnLst/>
              <a:rect l="l" t="t" r="r" b="b"/>
              <a:pathLst>
                <a:path w="1219200" h="3584448">
                  <a:moveTo>
                    <a:pt x="0" y="0"/>
                  </a:moveTo>
                  <a:lnTo>
                    <a:pt x="1219200" y="0"/>
                  </a:lnTo>
                  <a:lnTo>
                    <a:pt x="1219200" y="3584448"/>
                  </a:lnTo>
                  <a:lnTo>
                    <a:pt x="0" y="3584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7212" r="-327212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1219200" cy="3632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737360" y="7534656"/>
            <a:ext cx="6858000" cy="640080"/>
            <a:chOff x="0" y="0"/>
            <a:chExt cx="9144000" cy="85344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144000" cy="853440"/>
            </a:xfrm>
            <a:custGeom>
              <a:avLst/>
              <a:gdLst/>
              <a:ahLst/>
              <a:cxnLst/>
              <a:rect l="l" t="t" r="r" b="b"/>
              <a:pathLst>
                <a:path w="9144000" h="85344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91440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Artifact Generation (CASE II)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737360" y="8211312"/>
            <a:ext cx="6858000" cy="1645920"/>
            <a:chOff x="0" y="0"/>
            <a:chExt cx="9144000" cy="219456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144000" cy="2194560"/>
            </a:xfrm>
            <a:custGeom>
              <a:avLst/>
              <a:gdLst/>
              <a:ahLst/>
              <a:cxnLst/>
              <a:rect l="l" t="t" r="r" b="b"/>
              <a:pathLst>
                <a:path w="9144000" h="2194560">
                  <a:moveTo>
                    <a:pt x="0" y="0"/>
                  </a:moveTo>
                  <a:lnTo>
                    <a:pt x="9144000" y="0"/>
                  </a:lnTo>
                  <a:lnTo>
                    <a:pt x="9144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87" b="-31187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47625"/>
              <a:ext cx="9144000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Forced 2π angle shift in CASE II produces local vector field artifacts near the obstacle boundary.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405623" y="1596647"/>
            <a:ext cx="8255003" cy="2713739"/>
            <a:chOff x="0" y="0"/>
            <a:chExt cx="11006671" cy="3618319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10972800" cy="3584448"/>
            </a:xfrm>
            <a:custGeom>
              <a:avLst/>
              <a:gdLst/>
              <a:ahLst/>
              <a:cxnLst/>
              <a:rect l="l" t="t" r="r" b="b"/>
              <a:pathLst>
                <a:path w="10972800" h="3584448">
                  <a:moveTo>
                    <a:pt x="0" y="0"/>
                  </a:moveTo>
                  <a:lnTo>
                    <a:pt x="10972800" y="0"/>
                  </a:lnTo>
                  <a:lnTo>
                    <a:pt x="10972800" y="3584448"/>
                  </a:lnTo>
                  <a:lnTo>
                    <a:pt x="0" y="35844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11006582" cy="3618230"/>
            </a:xfrm>
            <a:custGeom>
              <a:avLst/>
              <a:gdLst/>
              <a:ahLst/>
              <a:cxnLst/>
              <a:rect l="l" t="t" r="r" b="b"/>
              <a:pathLst>
                <a:path w="11006582" h="361823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601339"/>
                  </a:lnTo>
                  <a:cubicBezTo>
                    <a:pt x="11006582" y="3610737"/>
                    <a:pt x="10998962" y="3618230"/>
                    <a:pt x="10989691" y="3618230"/>
                  </a:cubicBezTo>
                  <a:lnTo>
                    <a:pt x="16891" y="3618230"/>
                  </a:lnTo>
                  <a:cubicBezTo>
                    <a:pt x="7493" y="3618230"/>
                    <a:pt x="0" y="3610610"/>
                    <a:pt x="0" y="3601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01339"/>
                  </a:lnTo>
                  <a:lnTo>
                    <a:pt x="16891" y="3601339"/>
                  </a:lnTo>
                  <a:lnTo>
                    <a:pt x="16891" y="3584448"/>
                  </a:lnTo>
                  <a:lnTo>
                    <a:pt x="10989691" y="3584448"/>
                  </a:lnTo>
                  <a:lnTo>
                    <a:pt x="10989691" y="3601339"/>
                  </a:lnTo>
                  <a:lnTo>
                    <a:pt x="10972800" y="360133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9405623" y="1596647"/>
            <a:ext cx="939803" cy="2713739"/>
            <a:chOff x="0" y="0"/>
            <a:chExt cx="1253071" cy="3618319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1219200" cy="3584448"/>
            </a:xfrm>
            <a:custGeom>
              <a:avLst/>
              <a:gdLst/>
              <a:ahLst/>
              <a:cxnLst/>
              <a:rect l="l" t="t" r="r" b="b"/>
              <a:pathLst>
                <a:path w="1219200" h="3584448">
                  <a:moveTo>
                    <a:pt x="0" y="0"/>
                  </a:moveTo>
                  <a:lnTo>
                    <a:pt x="1219200" y="0"/>
                  </a:lnTo>
                  <a:lnTo>
                    <a:pt x="1219200" y="3584448"/>
                  </a:lnTo>
                  <a:lnTo>
                    <a:pt x="0" y="3584448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0"/>
              <a:ext cx="1252982" cy="3618230"/>
            </a:xfrm>
            <a:custGeom>
              <a:avLst/>
              <a:gdLst/>
              <a:ahLst/>
              <a:cxnLst/>
              <a:rect l="l" t="t" r="r" b="b"/>
              <a:pathLst>
                <a:path w="1252982" h="361823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3601339"/>
                  </a:lnTo>
                  <a:cubicBezTo>
                    <a:pt x="1252982" y="3610737"/>
                    <a:pt x="1245362" y="3618230"/>
                    <a:pt x="1236091" y="3618230"/>
                  </a:cubicBezTo>
                  <a:lnTo>
                    <a:pt x="16891" y="3618230"/>
                  </a:lnTo>
                  <a:cubicBezTo>
                    <a:pt x="7493" y="3618230"/>
                    <a:pt x="0" y="3610610"/>
                    <a:pt x="0" y="3601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01339"/>
                  </a:lnTo>
                  <a:lnTo>
                    <a:pt x="16891" y="3601339"/>
                  </a:lnTo>
                  <a:lnTo>
                    <a:pt x="16891" y="3584448"/>
                  </a:lnTo>
                  <a:lnTo>
                    <a:pt x="1236091" y="3584448"/>
                  </a:lnTo>
                  <a:lnTo>
                    <a:pt x="1236091" y="3601339"/>
                  </a:lnTo>
                  <a:lnTo>
                    <a:pt x="1219200" y="3601339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59" name="Group 59"/>
          <p:cNvGrpSpPr/>
          <p:nvPr/>
        </p:nvGrpSpPr>
        <p:grpSpPr>
          <a:xfrm>
            <a:off x="9418320" y="1609344"/>
            <a:ext cx="914400" cy="2688336"/>
            <a:chOff x="0" y="0"/>
            <a:chExt cx="1219200" cy="358444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219200" cy="3584448"/>
            </a:xfrm>
            <a:custGeom>
              <a:avLst/>
              <a:gdLst/>
              <a:ahLst/>
              <a:cxnLst/>
              <a:rect l="l" t="t" r="r" b="b"/>
              <a:pathLst>
                <a:path w="1219200" h="3584448">
                  <a:moveTo>
                    <a:pt x="0" y="0"/>
                  </a:moveTo>
                  <a:lnTo>
                    <a:pt x="1219200" y="0"/>
                  </a:lnTo>
                  <a:lnTo>
                    <a:pt x="1219200" y="3584448"/>
                  </a:lnTo>
                  <a:lnTo>
                    <a:pt x="0" y="3584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7212" r="-327212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1219200" cy="3632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515600" y="1755648"/>
            <a:ext cx="6858000" cy="640080"/>
            <a:chOff x="0" y="0"/>
            <a:chExt cx="9144000" cy="8534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9144000" cy="853440"/>
            </a:xfrm>
            <a:custGeom>
              <a:avLst/>
              <a:gdLst/>
              <a:ahLst/>
              <a:cxnLst/>
              <a:rect l="l" t="t" r="r" b="b"/>
              <a:pathLst>
                <a:path w="9144000" h="85344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47625"/>
              <a:ext cx="91440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Switching Parameter α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515600" y="2432304"/>
            <a:ext cx="6858000" cy="1645920"/>
            <a:chOff x="0" y="0"/>
            <a:chExt cx="9144000" cy="219456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9144000" cy="2194560"/>
            </a:xfrm>
            <a:custGeom>
              <a:avLst/>
              <a:gdLst/>
              <a:ahLst/>
              <a:cxnLst/>
              <a:rect l="l" t="t" r="r" b="b"/>
              <a:pathLst>
                <a:path w="9144000" h="2194560">
                  <a:moveTo>
                    <a:pt x="0" y="0"/>
                  </a:moveTo>
                  <a:lnTo>
                    <a:pt x="9144000" y="0"/>
                  </a:lnTo>
                  <a:lnTo>
                    <a:pt x="9144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87" b="-31187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9144000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α extends obstacle VF influence far from the obstacle, potentially preventing path convergence or inducing loops.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405623" y="4486151"/>
            <a:ext cx="8255003" cy="2713739"/>
            <a:chOff x="0" y="0"/>
            <a:chExt cx="11006671" cy="3618319"/>
          </a:xfrm>
        </p:grpSpPr>
        <p:sp>
          <p:nvSpPr>
            <p:cNvPr id="69" name="Freeform 69"/>
            <p:cNvSpPr/>
            <p:nvPr/>
          </p:nvSpPr>
          <p:spPr>
            <a:xfrm>
              <a:off x="16891" y="16891"/>
              <a:ext cx="10972800" cy="3584448"/>
            </a:xfrm>
            <a:custGeom>
              <a:avLst/>
              <a:gdLst/>
              <a:ahLst/>
              <a:cxnLst/>
              <a:rect l="l" t="t" r="r" b="b"/>
              <a:pathLst>
                <a:path w="10972800" h="3584448">
                  <a:moveTo>
                    <a:pt x="0" y="0"/>
                  </a:moveTo>
                  <a:lnTo>
                    <a:pt x="10972800" y="0"/>
                  </a:lnTo>
                  <a:lnTo>
                    <a:pt x="10972800" y="3584448"/>
                  </a:lnTo>
                  <a:lnTo>
                    <a:pt x="0" y="35844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0" name="Freeform 70"/>
            <p:cNvSpPr/>
            <p:nvPr/>
          </p:nvSpPr>
          <p:spPr>
            <a:xfrm>
              <a:off x="0" y="0"/>
              <a:ext cx="11006582" cy="3618230"/>
            </a:xfrm>
            <a:custGeom>
              <a:avLst/>
              <a:gdLst/>
              <a:ahLst/>
              <a:cxnLst/>
              <a:rect l="l" t="t" r="r" b="b"/>
              <a:pathLst>
                <a:path w="11006582" h="3618230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3601339"/>
                  </a:lnTo>
                  <a:cubicBezTo>
                    <a:pt x="11006582" y="3610737"/>
                    <a:pt x="10998962" y="3618230"/>
                    <a:pt x="10989691" y="3618230"/>
                  </a:cubicBezTo>
                  <a:lnTo>
                    <a:pt x="16891" y="3618230"/>
                  </a:lnTo>
                  <a:cubicBezTo>
                    <a:pt x="7493" y="3618230"/>
                    <a:pt x="0" y="3610610"/>
                    <a:pt x="0" y="3601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01339"/>
                  </a:lnTo>
                  <a:lnTo>
                    <a:pt x="16891" y="3601339"/>
                  </a:lnTo>
                  <a:lnTo>
                    <a:pt x="16891" y="3584448"/>
                  </a:lnTo>
                  <a:lnTo>
                    <a:pt x="10989691" y="3584448"/>
                  </a:lnTo>
                  <a:lnTo>
                    <a:pt x="10989691" y="3601339"/>
                  </a:lnTo>
                  <a:lnTo>
                    <a:pt x="10972800" y="3601339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BD5E1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9405623" y="4486151"/>
            <a:ext cx="939803" cy="2713739"/>
            <a:chOff x="0" y="0"/>
            <a:chExt cx="1253071" cy="3618319"/>
          </a:xfrm>
        </p:grpSpPr>
        <p:sp>
          <p:nvSpPr>
            <p:cNvPr id="72" name="Freeform 72"/>
            <p:cNvSpPr/>
            <p:nvPr/>
          </p:nvSpPr>
          <p:spPr>
            <a:xfrm>
              <a:off x="16891" y="16891"/>
              <a:ext cx="1219200" cy="3584448"/>
            </a:xfrm>
            <a:custGeom>
              <a:avLst/>
              <a:gdLst/>
              <a:ahLst/>
              <a:cxnLst/>
              <a:rect l="l" t="t" r="r" b="b"/>
              <a:pathLst>
                <a:path w="1219200" h="3584448">
                  <a:moveTo>
                    <a:pt x="0" y="0"/>
                  </a:moveTo>
                  <a:lnTo>
                    <a:pt x="1219200" y="0"/>
                  </a:lnTo>
                  <a:lnTo>
                    <a:pt x="1219200" y="3584448"/>
                  </a:lnTo>
                  <a:lnTo>
                    <a:pt x="0" y="3584448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id="73" name="Freeform 73"/>
            <p:cNvSpPr/>
            <p:nvPr/>
          </p:nvSpPr>
          <p:spPr>
            <a:xfrm>
              <a:off x="0" y="0"/>
              <a:ext cx="1252982" cy="3618230"/>
            </a:xfrm>
            <a:custGeom>
              <a:avLst/>
              <a:gdLst/>
              <a:ahLst/>
              <a:cxnLst/>
              <a:rect l="l" t="t" r="r" b="b"/>
              <a:pathLst>
                <a:path w="1252982" h="3618230">
                  <a:moveTo>
                    <a:pt x="16891" y="0"/>
                  </a:moveTo>
                  <a:lnTo>
                    <a:pt x="1236091" y="0"/>
                  </a:lnTo>
                  <a:cubicBezTo>
                    <a:pt x="1245489" y="0"/>
                    <a:pt x="1252982" y="7620"/>
                    <a:pt x="1252982" y="16891"/>
                  </a:cubicBezTo>
                  <a:lnTo>
                    <a:pt x="1252982" y="3601339"/>
                  </a:lnTo>
                  <a:cubicBezTo>
                    <a:pt x="1252982" y="3610737"/>
                    <a:pt x="1245362" y="3618230"/>
                    <a:pt x="1236091" y="3618230"/>
                  </a:cubicBezTo>
                  <a:lnTo>
                    <a:pt x="16891" y="3618230"/>
                  </a:lnTo>
                  <a:cubicBezTo>
                    <a:pt x="7493" y="3618230"/>
                    <a:pt x="0" y="3610610"/>
                    <a:pt x="0" y="36013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601339"/>
                  </a:lnTo>
                  <a:lnTo>
                    <a:pt x="16891" y="3601339"/>
                  </a:lnTo>
                  <a:lnTo>
                    <a:pt x="16891" y="3584448"/>
                  </a:lnTo>
                  <a:lnTo>
                    <a:pt x="1236091" y="3584448"/>
                  </a:lnTo>
                  <a:lnTo>
                    <a:pt x="1236091" y="3601339"/>
                  </a:lnTo>
                  <a:lnTo>
                    <a:pt x="1219200" y="3601339"/>
                  </a:lnTo>
                  <a:lnTo>
                    <a:pt x="1219200" y="16891"/>
                  </a:lnTo>
                  <a:lnTo>
                    <a:pt x="1236091" y="16891"/>
                  </a:lnTo>
                  <a:lnTo>
                    <a:pt x="1236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9418320" y="4498848"/>
            <a:ext cx="914400" cy="2688336"/>
            <a:chOff x="0" y="0"/>
            <a:chExt cx="1219200" cy="358444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219200" cy="3584448"/>
            </a:xfrm>
            <a:custGeom>
              <a:avLst/>
              <a:gdLst/>
              <a:ahLst/>
              <a:cxnLst/>
              <a:rect l="l" t="t" r="r" b="b"/>
              <a:pathLst>
                <a:path w="1219200" h="3584448">
                  <a:moveTo>
                    <a:pt x="0" y="0"/>
                  </a:moveTo>
                  <a:lnTo>
                    <a:pt x="1219200" y="0"/>
                  </a:lnTo>
                  <a:lnTo>
                    <a:pt x="1219200" y="3584448"/>
                  </a:lnTo>
                  <a:lnTo>
                    <a:pt x="0" y="3584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7212" r="-327212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47625"/>
              <a:ext cx="1219200" cy="36320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515600" y="4645152"/>
            <a:ext cx="6858000" cy="640080"/>
            <a:chOff x="0" y="0"/>
            <a:chExt cx="9144000" cy="85344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9144000" cy="853440"/>
            </a:xfrm>
            <a:custGeom>
              <a:avLst/>
              <a:gdLst/>
              <a:ahLst/>
              <a:cxnLst/>
              <a:rect l="l" t="t" r="r" b="b"/>
              <a:pathLst>
                <a:path w="9144000" h="853440">
                  <a:moveTo>
                    <a:pt x="0" y="0"/>
                  </a:moveTo>
                  <a:lnTo>
                    <a:pt x="9144000" y="0"/>
                  </a:lnTo>
                  <a:lnTo>
                    <a:pt x="9144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768" b="-158768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91440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991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Formal Stability Proof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0515600" y="5321808"/>
            <a:ext cx="6858000" cy="1645920"/>
            <a:chOff x="0" y="0"/>
            <a:chExt cx="9144000" cy="219456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9144000" cy="2194560"/>
            </a:xfrm>
            <a:custGeom>
              <a:avLst/>
              <a:gdLst/>
              <a:ahLst/>
              <a:cxnLst/>
              <a:rect l="l" t="t" r="r" b="b"/>
              <a:pathLst>
                <a:path w="9144000" h="2194560">
                  <a:moveTo>
                    <a:pt x="0" y="0"/>
                  </a:moveTo>
                  <a:lnTo>
                    <a:pt x="9144000" y="0"/>
                  </a:lnTo>
                  <a:lnTo>
                    <a:pt x="9144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187" b="-31187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47625"/>
              <a:ext cx="9144000" cy="22421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Algorithm validated empirically via MATLAB simulation. A formal Lyapunov-based proof of convergence for the combined singularity-free CVF is not yet established.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-12697"/>
            <a:ext cx="18313403" cy="1342139"/>
            <a:chOff x="0" y="0"/>
            <a:chExt cx="24417871" cy="1789519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1755648"/>
            </a:xfrm>
            <a:custGeom>
              <a:avLst/>
              <a:gdLst/>
              <a:ahLst/>
              <a:cxnLst/>
              <a:rect l="l" t="t" r="r" b="b"/>
              <a:pathLst>
                <a:path w="24383999" h="1755648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A3A6B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789430"/>
            </a:xfrm>
            <a:custGeom>
              <a:avLst/>
              <a:gdLst/>
              <a:ahLst/>
              <a:cxnLst/>
              <a:rect l="l" t="t" r="r" b="b"/>
              <a:pathLst>
                <a:path w="24417782" h="1789430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3A6B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0080" y="0"/>
            <a:ext cx="17007840" cy="1316736"/>
            <a:chOff x="0" y="0"/>
            <a:chExt cx="22677120" cy="1755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77120" cy="1755648"/>
            </a:xfrm>
            <a:custGeom>
              <a:avLst/>
              <a:gdLst/>
              <a:ahLst/>
              <a:cxnLst/>
              <a:rect l="l" t="t" r="r" b="b"/>
              <a:pathLst>
                <a:path w="22677120" h="1755648">
                  <a:moveTo>
                    <a:pt x="0" y="0"/>
                  </a:moveTo>
                  <a:lnTo>
                    <a:pt x="22677120" y="0"/>
                  </a:lnTo>
                  <a:lnTo>
                    <a:pt x="2267712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1681" b="-201681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22677120" cy="1831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Future Work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0080" y="2220868"/>
            <a:ext cx="7955280" cy="696422"/>
            <a:chOff x="0" y="0"/>
            <a:chExt cx="10607040" cy="9285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07040" cy="928562"/>
            </a:xfrm>
            <a:custGeom>
              <a:avLst/>
              <a:gdLst/>
              <a:ahLst/>
              <a:cxnLst/>
              <a:rect l="l" t="t" r="r" b="b"/>
              <a:pathLst>
                <a:path w="10607040" h="928562">
                  <a:moveTo>
                    <a:pt x="0" y="0"/>
                  </a:moveTo>
                  <a:lnTo>
                    <a:pt x="10607040" y="0"/>
                  </a:lnTo>
                  <a:lnTo>
                    <a:pt x="10607040" y="928562"/>
                  </a:lnTo>
                  <a:lnTo>
                    <a:pt x="0" y="9285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189" b="-161969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0607040" cy="9952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99"/>
                </a:lnSpc>
              </a:pPr>
              <a:r>
                <a:rPr lang="en-US" sz="3499" b="1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Work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" y="3183985"/>
            <a:ext cx="15163799" cy="3610219"/>
            <a:chOff x="0" y="0"/>
            <a:chExt cx="20218399" cy="48136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218398" cy="4813625"/>
            </a:xfrm>
            <a:custGeom>
              <a:avLst/>
              <a:gdLst/>
              <a:ahLst/>
              <a:cxnLst/>
              <a:rect l="l" t="t" r="r" b="b"/>
              <a:pathLst>
                <a:path w="20218398" h="4813625">
                  <a:moveTo>
                    <a:pt x="0" y="0"/>
                  </a:moveTo>
                  <a:lnTo>
                    <a:pt x="20218398" y="0"/>
                  </a:lnTo>
                  <a:lnTo>
                    <a:pt x="20218398" y="4813625"/>
                  </a:lnTo>
                  <a:lnTo>
                    <a:pt x="0" y="48136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7927" r="19610" b="-7729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23850"/>
              <a:ext cx="20218399" cy="51374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04518" lvl="1" indent="-302259" algn="l">
                <a:lnSpc>
                  <a:spcPts val="601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 systematic parameter selection and auto-tuning for κ, κobs, α</a:t>
              </a:r>
            </a:p>
            <a:p>
              <a:pPr marL="604518" lvl="1" indent="-302259" algn="l">
                <a:lnSpc>
                  <a:spcPts val="601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Improve blending strategy to avoid angle wrapping fragility and artifacts</a:t>
              </a:r>
            </a:p>
            <a:p>
              <a:pPr marL="604518" lvl="1" indent="-302259" algn="l">
                <a:lnSpc>
                  <a:spcPts val="601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Extend framework to 3D path following and obstacle avoidance</a:t>
              </a:r>
            </a:p>
            <a:p>
              <a:pPr marL="604518" lvl="1" indent="-302259" algn="l">
                <a:lnSpc>
                  <a:spcPts val="601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Formal Lyapunov stability and convergence proof for the singularity-free CVF</a:t>
              </a:r>
            </a:p>
            <a:p>
              <a:pPr marL="604518" lvl="1" indent="-302259" algn="l">
                <a:lnSpc>
                  <a:spcPts val="6019"/>
                </a:lnSpc>
                <a:buFont typeface="Arial"/>
                <a:buChar char="•"/>
              </a:pPr>
              <a:r>
                <a:rPr lang="en-US" sz="2799">
                  <a:solidFill>
                    <a:srgbClr val="1E29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Hardware-in-the-loop and experimental flight validation on a real UAV platform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45910" y="8742678"/>
            <a:ext cx="17796189" cy="1031243"/>
            <a:chOff x="0" y="0"/>
            <a:chExt cx="23728251" cy="1374991"/>
          </a:xfrm>
        </p:grpSpPr>
        <p:sp>
          <p:nvSpPr>
            <p:cNvPr id="15" name="Freeform 15"/>
            <p:cNvSpPr/>
            <p:nvPr/>
          </p:nvSpPr>
          <p:spPr>
            <a:xfrm>
              <a:off x="17648" y="16891"/>
              <a:ext cx="23692863" cy="1341120"/>
            </a:xfrm>
            <a:custGeom>
              <a:avLst/>
              <a:gdLst/>
              <a:ahLst/>
              <a:cxnLst/>
              <a:rect l="l" t="t" r="r" b="b"/>
              <a:pathLst>
                <a:path w="23692863" h="1341120">
                  <a:moveTo>
                    <a:pt x="0" y="0"/>
                  </a:moveTo>
                  <a:lnTo>
                    <a:pt x="23692863" y="0"/>
                  </a:lnTo>
                  <a:lnTo>
                    <a:pt x="23692863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23728159" cy="1374902"/>
            </a:xfrm>
            <a:custGeom>
              <a:avLst/>
              <a:gdLst/>
              <a:ahLst/>
              <a:cxnLst/>
              <a:rect l="l" t="t" r="r" b="b"/>
              <a:pathLst>
                <a:path w="23728159" h="1374902">
                  <a:moveTo>
                    <a:pt x="17648" y="0"/>
                  </a:moveTo>
                  <a:lnTo>
                    <a:pt x="23710511" y="0"/>
                  </a:lnTo>
                  <a:cubicBezTo>
                    <a:pt x="23720329" y="0"/>
                    <a:pt x="23728159" y="7620"/>
                    <a:pt x="23728159" y="16891"/>
                  </a:cubicBezTo>
                  <a:lnTo>
                    <a:pt x="23728159" y="1358011"/>
                  </a:lnTo>
                  <a:cubicBezTo>
                    <a:pt x="23728159" y="1367409"/>
                    <a:pt x="23720197" y="1374902"/>
                    <a:pt x="23710511" y="1374902"/>
                  </a:cubicBezTo>
                  <a:lnTo>
                    <a:pt x="17648" y="1374902"/>
                  </a:lnTo>
                  <a:cubicBezTo>
                    <a:pt x="7829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961" y="0"/>
                    <a:pt x="17648" y="0"/>
                  </a:cubicBezTo>
                  <a:moveTo>
                    <a:pt x="17648" y="33909"/>
                  </a:moveTo>
                  <a:lnTo>
                    <a:pt x="17648" y="16891"/>
                  </a:lnTo>
                  <a:lnTo>
                    <a:pt x="35428" y="16891"/>
                  </a:lnTo>
                  <a:lnTo>
                    <a:pt x="35428" y="1358011"/>
                  </a:lnTo>
                  <a:lnTo>
                    <a:pt x="17648" y="1358011"/>
                  </a:lnTo>
                  <a:lnTo>
                    <a:pt x="17648" y="1341120"/>
                  </a:lnTo>
                  <a:lnTo>
                    <a:pt x="23710511" y="1341120"/>
                  </a:lnTo>
                  <a:lnTo>
                    <a:pt x="23710511" y="1358011"/>
                  </a:lnTo>
                  <a:lnTo>
                    <a:pt x="23692864" y="1358011"/>
                  </a:lnTo>
                  <a:lnTo>
                    <a:pt x="23692864" y="16891"/>
                  </a:lnTo>
                  <a:lnTo>
                    <a:pt x="23710511" y="16891"/>
                  </a:lnTo>
                  <a:lnTo>
                    <a:pt x="23710511" y="33909"/>
                  </a:lnTo>
                  <a:lnTo>
                    <a:pt x="17648" y="3390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59176" y="8791951"/>
            <a:ext cx="17782923" cy="932688"/>
            <a:chOff x="0" y="0"/>
            <a:chExt cx="23710564" cy="124358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710564" cy="1243584"/>
            </a:xfrm>
            <a:custGeom>
              <a:avLst/>
              <a:gdLst/>
              <a:ahLst/>
              <a:cxnLst/>
              <a:rect l="l" t="t" r="r" b="b"/>
              <a:pathLst>
                <a:path w="23710564" h="1243584">
                  <a:moveTo>
                    <a:pt x="0" y="0"/>
                  </a:moveTo>
                  <a:lnTo>
                    <a:pt x="23710564" y="0"/>
                  </a:lnTo>
                  <a:lnTo>
                    <a:pt x="2371056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7674" r="6415" b="-29767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3710564" cy="12912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 i="1">
                  <a:solidFill>
                    <a:srgbClr val="1A3A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proposed singularity-free CVF framework demonstrates practical viability for real-time UAV guidance in obstacle-laden environments.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8795" y="3085210"/>
            <a:ext cx="14630400" cy="2560320"/>
            <a:chOff x="0" y="0"/>
            <a:chExt cx="19507200" cy="34137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507200" cy="3413760"/>
            </a:xfrm>
            <a:custGeom>
              <a:avLst/>
              <a:gdLst/>
              <a:ahLst/>
              <a:cxnLst/>
              <a:rect l="l" t="t" r="r" b="b"/>
              <a:pathLst>
                <a:path w="19507200" h="3413760">
                  <a:moveTo>
                    <a:pt x="0" y="0"/>
                  </a:moveTo>
                  <a:lnTo>
                    <a:pt x="19507200" y="0"/>
                  </a:lnTo>
                  <a:lnTo>
                    <a:pt x="195072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43" b="-61343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09550"/>
              <a:ext cx="19507200" cy="3623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480"/>
                </a:lnSpc>
              </a:pPr>
              <a:r>
                <a:rPr lang="en-US" sz="10400" b="1">
                  <a:solidFill>
                    <a:srgbClr val="1A3A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460997" y="5369557"/>
            <a:ext cx="7365997" cy="50797"/>
            <a:chOff x="0" y="0"/>
            <a:chExt cx="9821329" cy="67729"/>
          </a:xfrm>
        </p:grpSpPr>
        <p:sp>
          <p:nvSpPr>
            <p:cNvPr id="6" name="Freeform 6"/>
            <p:cNvSpPr/>
            <p:nvPr/>
          </p:nvSpPr>
          <p:spPr>
            <a:xfrm>
              <a:off x="33909" y="0"/>
              <a:ext cx="9753600" cy="67691"/>
            </a:xfrm>
            <a:custGeom>
              <a:avLst/>
              <a:gdLst/>
              <a:ahLst/>
              <a:cxnLst/>
              <a:rect l="l" t="t" r="r" b="b"/>
              <a:pathLst>
                <a:path w="9753600" h="67691">
                  <a:moveTo>
                    <a:pt x="0" y="0"/>
                  </a:moveTo>
                  <a:lnTo>
                    <a:pt x="9753600" y="0"/>
                  </a:lnTo>
                  <a:lnTo>
                    <a:pt x="97536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1461</Words>
  <Application>Microsoft Office PowerPoint</Application>
  <PresentationFormat>Custom</PresentationFormat>
  <Paragraphs>231</Paragraphs>
  <Slides>28</Slides>
  <Notes>27</Notes>
  <HiddenSlides>0</HiddenSlides>
  <MMClips>3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Cambria Bold</vt:lpstr>
      <vt:lpstr>Calibri</vt:lpstr>
      <vt:lpstr>Inter Bold</vt:lpstr>
      <vt:lpstr>Calibri (MS) Italics</vt:lpstr>
      <vt:lpstr>Arial</vt:lpstr>
      <vt:lpstr>Calibri (MS) Bold</vt:lpstr>
      <vt:lpstr>Canva Sans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BTP_Presentation_2.pptx</dc:title>
  <cp:lastModifiedBy>Dheeraj Prajapati</cp:lastModifiedBy>
  <cp:revision>2</cp:revision>
  <dcterms:created xsi:type="dcterms:W3CDTF">2006-08-16T00:00:00Z</dcterms:created>
  <dcterms:modified xsi:type="dcterms:W3CDTF">2026-05-04T10:32:58Z</dcterms:modified>
  <dc:identifier>DAHIrSlKZtg</dc:identifier>
</cp:coreProperties>
</file>